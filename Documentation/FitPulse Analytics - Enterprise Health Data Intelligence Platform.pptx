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3" r:id="rId23"/>
  </p:sldIdLst>
  <p:sldSz cx="12192000" cy="6858000"/>
  <p:notesSz cx="6858000" cy="9144000"/>
  <p:embeddedFontLst>
    <p:embeddedFont>
      <p:font typeface="DM Mono" panose="020B0509040201040103" pitchFamily="49" charset="0"/>
      <p:regular r:id="rId25"/>
      <p:italic r:id="rId26"/>
    </p:embeddedFont>
    <p:embeddedFont>
      <p:font typeface="DM Sans" pitchFamily="2" charset="0"/>
      <p:regular r:id="rId27"/>
      <p:bold r:id="rId28"/>
      <p:italic r:id="rId29"/>
      <p:boldItalic r:id="rId30"/>
    </p:embeddedFont>
    <p:embeddedFont>
      <p:font typeface="Syne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47ECED-8874-40D7-BAB4-C569AB57A502}">
  <a:tblStyle styleId="{4247ECED-8874-40D7-BAB4-C569AB57A5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5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2718e729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2718e729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2718e729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2718e729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2718e729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2718e729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2718e7292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2718e7292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2718e729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2718e729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2718e729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2718e729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2718e7292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2718e7292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2718e729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2718e729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19425" y="1795700"/>
            <a:ext cx="83091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FitPulse Analytics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0" y="3000970"/>
            <a:ext cx="762000" cy="381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919425" y="3429005"/>
            <a:ext cx="8051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Enterprise Health Data Intelligence Platform</a:t>
            </a:r>
            <a:endParaRPr sz="2000"/>
          </a:p>
        </p:txBody>
      </p:sp>
      <p:sp>
        <p:nvSpPr>
          <p:cNvPr id="88" name="Google Shape;88;p13"/>
          <p:cNvSpPr txBox="1"/>
          <p:nvPr/>
        </p:nvSpPr>
        <p:spPr>
          <a:xfrm>
            <a:off x="1334150" y="4400350"/>
            <a:ext cx="9151500" cy="1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7B5C8A"/>
                </a:solidFill>
                <a:latin typeface="DM Mono"/>
                <a:ea typeface="DM Mono"/>
                <a:cs typeface="DM Mono"/>
                <a:sym typeface="DM Mono"/>
              </a:rPr>
              <a:t>Technical Product Documentation</a:t>
            </a:r>
            <a:endParaRPr sz="2000" b="1" i="0" u="none" strike="noStrike" cap="none">
              <a:solidFill>
                <a:srgbClr val="7B5C8A"/>
              </a:solidFill>
              <a:latin typeface="DM Mono"/>
              <a:ea typeface="DM Mono"/>
              <a:cs typeface="DM Mono"/>
              <a:sym typeface="DM Mono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7B5C8A"/>
                </a:solidFill>
                <a:latin typeface="DM Mono"/>
                <a:ea typeface="DM Mono"/>
                <a:cs typeface="DM Mono"/>
                <a:sym typeface="DM Mono"/>
              </a:rPr>
              <a:t>By Abhishek Shah</a:t>
            </a:r>
            <a:endParaRPr sz="2200" b="1"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8300" y="995437"/>
            <a:ext cx="2350825" cy="23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300" y="4400350"/>
            <a:ext cx="2124024" cy="2124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398"/>
            <a:ext cx="3492549" cy="374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00398"/>
            <a:ext cx="3492549" cy="374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00398"/>
            <a:ext cx="3492549" cy="374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34329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14400" y="3343423"/>
            <a:ext cx="19502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Data Quality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3810148"/>
            <a:ext cx="2806749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Automated five-layer null remediation eliminates manual data-cleaning effort, reducing pre-analysis preparation time by an estimated 70–85%.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34329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692699" y="3343423"/>
            <a:ext cx="161020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Scalability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92699" y="3810148"/>
            <a:ext cx="2806749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Handles datasets from hundreds to tens of thousands of rows with consistent performance, leveraging Pandas vectorised operations.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343298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470999" y="3343423"/>
            <a:ext cx="23402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Insight Velocity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70999" y="3810148"/>
            <a:ext cx="2806749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Full Exploratory Data Analysis (EDA)—including descriptive stats, correlations, and distributions—delivered in a single button click.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1562" y="2524273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73674" y="2524273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51974" y="2524273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Strategic Value Proposition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3795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1237952"/>
            <a:ext cx="5550693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Addressing Raw Dataset Deficiencies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2028527"/>
            <a:ext cx="5286375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Raw fitness and health datasets—sourced from wearable devices, HR management systems, wellness applications, and manual entry—invariably arrive with significant data quality deficiencies.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5494734"/>
            <a:ext cx="528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FitPulse Analytics dissolves these barriers through intelligent, fully automated data remediation, enabling analysts to proceed directly to insight generation.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42950" y="333119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09625" y="3329285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Pervasive Null Values: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Gaps in tracking creating analytical blind spots.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42950" y="4053006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09625" y="4051101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Inconsistent Formats: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Date parsing errors and unmapped categorical entries.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42950" y="477482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09625" y="4772917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Structural Irregularities: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Primary barriers to meaningful pattern analysis.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47477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71500" y="352127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The Data Quality Challenge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571500" y="1240631"/>
            <a:ext cx="11049000" cy="526271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6"/>
          <p:cNvGraphicFramePr/>
          <p:nvPr/>
        </p:nvGraphicFramePr>
        <p:xfrm>
          <a:off x="571500" y="1240631"/>
          <a:ext cx="11049000" cy="5262750"/>
        </p:xfrm>
        <a:graphic>
          <a:graphicData uri="http://schemas.openxmlformats.org/drawingml/2006/table">
            <a:tbl>
              <a:tblPr firstRow="1" bandRow="1">
                <a:noFill/>
                <a:tableStyleId>{4247ECED-8874-40D7-BAB4-C569AB57A502}</a:tableStyleId>
              </a:tblPr>
              <a:tblGrid>
                <a:gridCol w="243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1B3D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User Segment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B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1B3D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Primary 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B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1B3D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Key Platform Benefit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B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Corporate HR &amp; Wellness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Employee fitness programme monitoring and reporting.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No-code EDA with export-ready visualisations.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Data Analysts &amp; Scientists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Rapid dataset profiling and null-value auditing.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Automated preprocessing reduces setup time significantly.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Healthcare Admins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Patient fitness metric trend analysis.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Time-series and outlier detection built-in.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Product Managers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Fitness platform data quality reviews.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Pipeline audit log provides full operational transparency.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Business Intelligence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KPI dashboards fed from cleaned datasets.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Clean, structured data ready for downstream BI tools.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6" name="Google Shape;136;p16"/>
          <p:cNvSpPr/>
          <p:nvPr/>
        </p:nvSpPr>
        <p:spPr>
          <a:xfrm>
            <a:off x="571500" y="1912143"/>
            <a:ext cx="2435721" cy="28575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3007221" y="1912143"/>
            <a:ext cx="4143672" cy="28575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150893" y="1912143"/>
            <a:ext cx="4469606" cy="28575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2910185"/>
            <a:ext cx="2435721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007221" y="2910185"/>
            <a:ext cx="414367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150893" y="2910185"/>
            <a:ext cx="4469606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71500" y="3879651"/>
            <a:ext cx="2435721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007221" y="3879651"/>
            <a:ext cx="414367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150893" y="3879651"/>
            <a:ext cx="4469606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571500" y="4559647"/>
            <a:ext cx="2435721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3007221" y="4559647"/>
            <a:ext cx="414367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7150893" y="4559647"/>
            <a:ext cx="4469606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5529113"/>
            <a:ext cx="2435721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3007221" y="5529113"/>
            <a:ext cx="414367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7150893" y="5529113"/>
            <a:ext cx="4469606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71500" y="354806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Target Audience &amp; Primary Use Cases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95787"/>
            <a:ext cx="2651670" cy="13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70510" y="2346275"/>
            <a:ext cx="2651670" cy="13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9521" y="4395787"/>
            <a:ext cx="2651670" cy="138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68531" y="2346275"/>
            <a:ext cx="2651670" cy="138276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/>
          <p:nvPr/>
        </p:nvSpPr>
        <p:spPr>
          <a:xfrm>
            <a:off x="571500" y="4033837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4A0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715234" y="4595812"/>
            <a:ext cx="236420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1. CSV Ingestion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4938712"/>
            <a:ext cx="225162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Raw .csv file to In-memory DataFrame via robust encoding detection and file-state guard.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3514245" y="2546300"/>
            <a:ext cx="236420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2. Null Inspection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3570535" y="2889200"/>
            <a:ext cx="225162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Column-level null counts, heatmaps, and KPI audits to isolate missing fitness metrics.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313255" y="4595812"/>
            <a:ext cx="236420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3. Preprocessing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369546" y="4938712"/>
            <a:ext cx="225162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Deterministic 5-layer null remediation guaranteeing complete null elimination.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112266" y="2546300"/>
            <a:ext cx="236420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4. EDA Generation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168556" y="2889200"/>
            <a:ext cx="225162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8 interactive charts including distributions, correlations, and time series generated instantly.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1763985" y="39290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5ECF5"/>
          </a:solidFill>
          <a:ln w="57150" cap="flat" cmpd="sng">
            <a:solidFill>
              <a:srgbClr val="6B2D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562995" y="39290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5ECF5"/>
          </a:solidFill>
          <a:ln w="57150" cap="flat" cmpd="sng">
            <a:solidFill>
              <a:srgbClr val="6B2D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362006" y="39290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5ECF5"/>
          </a:solidFill>
          <a:ln w="57150" cap="flat" cmpd="sng">
            <a:solidFill>
              <a:srgbClr val="6B2D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10161016" y="39290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5ECF5"/>
          </a:solidFill>
          <a:ln w="57150" cap="flat" cmpd="sng">
            <a:solidFill>
              <a:srgbClr val="6B2D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Five-Stage Pipeline Architecture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14921"/>
            <a:ext cx="5286375" cy="4713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14921"/>
            <a:ext cx="5286375" cy="471398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962025" y="1905446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Stage 1: CSV Upload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962025" y="2372171"/>
            <a:ext cx="45053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Embedded within the sidebar, utilising Streamlit's native file_uploader widget styled with the platform's custom CSS.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724650" y="1905446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Stage 2: Null Value Inspector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724650" y="2372171"/>
            <a:ext cx="45053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Delivers a comprehensive multi-dimensional audit of missing data, architected as a self-contained module.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133475" y="338536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200150" y="3383458"/>
            <a:ext cx="4267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Capacity: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Accepts CSV files up to 200 MB via drag-and-drop.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1133475" y="410718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1200150" y="4105275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Architecture: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Implements a file-name guard; session state resets exclusively upon detection of a genuinely new file.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1133475" y="5118467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1200150" y="5116562"/>
            <a:ext cx="4267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Feedback: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Animated loader provides real-time progress while displaying 4 initial KPI cards.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896100" y="3385363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962775" y="3383458"/>
            <a:ext cx="4267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KPI Cards: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Total Null Cells, Affected Columns, Clean Columns, Null Rate.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896100" y="410718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962775" y="4105275"/>
            <a:ext cx="42672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Visualizations: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Horizontal bar chart ranked by null severity (purple → red).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896100" y="4828996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962775" y="4827091"/>
            <a:ext cx="42672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Heatmap: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500-row sample null presence heatmap for immediate visual pattern identification.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Stages 1 &amp; 2: Ingestion &amp; Inspection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/>
          <p:nvPr/>
        </p:nvSpPr>
        <p:spPr>
          <a:xfrm>
            <a:off x="1333500" y="770929"/>
            <a:ext cx="9525000" cy="1312366"/>
          </a:xfrm>
          <a:prstGeom prst="roundRect">
            <a:avLst>
              <a:gd name="adj" fmla="val 5806"/>
            </a:avLst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1952625" y="961429"/>
            <a:ext cx="8715375" cy="93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6B2D8B"/>
                </a:solidFill>
                <a:latin typeface="DM Sans"/>
                <a:ea typeface="DM Sans"/>
                <a:cs typeface="DM Sans"/>
                <a:sym typeface="DM Sans"/>
              </a:rPr>
              <a:t>Layer A: Datetime Parsing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Columns containing date/time keywords are parsed to datetime64[ns], preparing them for accurate time-series analysis and normalizing invalid values.</a:t>
            </a:r>
            <a:endParaRPr/>
          </a:p>
        </p:txBody>
      </p:sp>
      <p:sp>
        <p:nvSpPr>
          <p:cNvPr id="206" name="Google Shape;206;p19"/>
          <p:cNvSpPr/>
          <p:nvPr/>
        </p:nvSpPr>
        <p:spPr>
          <a:xfrm>
            <a:off x="1333500" y="770929"/>
            <a:ext cx="47625" cy="131236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1333500" y="2321421"/>
            <a:ext cx="9525000" cy="1312366"/>
          </a:xfrm>
          <a:prstGeom prst="roundRect">
            <a:avLst>
              <a:gd name="adj" fmla="val 5806"/>
            </a:avLst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1952625" y="2511921"/>
            <a:ext cx="8715375" cy="93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6B2D8B"/>
                </a:solidFill>
                <a:latin typeface="DM Sans"/>
                <a:ea typeface="DM Sans"/>
                <a:cs typeface="DM Sans"/>
                <a:sym typeface="DM Sans"/>
              </a:rPr>
              <a:t>Layer B: Linear Interpolation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Intelligently fills gaps between known numeric values. This is ideal for time-ordered fitness metrics like step counts or heart rate tracking.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1333500" y="2321421"/>
            <a:ext cx="47625" cy="131236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1333500" y="3871912"/>
            <a:ext cx="9525000" cy="1312366"/>
          </a:xfrm>
          <a:prstGeom prst="roundRect">
            <a:avLst>
              <a:gd name="adj" fmla="val 5806"/>
            </a:avLst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1952625" y="4062412"/>
            <a:ext cx="8715375" cy="93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6B2D8B"/>
                </a:solidFill>
                <a:latin typeface="DM Sans"/>
                <a:ea typeface="DM Sans"/>
                <a:cs typeface="DM Sans"/>
                <a:sym typeface="DM Sans"/>
              </a:rPr>
              <a:t>Layer C &amp; D: Forward (ffill) &amp; Backward (bfill) Fill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Propagates the last known value forward (addressing trailing nulls) and the next known value backward (addressing leading nulls) to ensure continuity.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1333500" y="3871912"/>
            <a:ext cx="47625" cy="131236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1333500" y="5422403"/>
            <a:ext cx="9525000" cy="1312366"/>
          </a:xfrm>
          <a:prstGeom prst="roundRect">
            <a:avLst>
              <a:gd name="adj" fmla="val 5806"/>
            </a:avLst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1952625" y="5612903"/>
            <a:ext cx="8715375" cy="931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6B2D8B"/>
                </a:solidFill>
                <a:latin typeface="DM Sans"/>
                <a:ea typeface="DM Sans"/>
                <a:cs typeface="DM Sans"/>
                <a:sym typeface="DM Sans"/>
              </a:rPr>
              <a:t>Layer E: Median, Mode &amp; Safety Net</a:t>
            </a:r>
            <a:r>
              <a:rPr lang="en-US" sz="1425" b="0" i="0" u="none" strike="noStrike" cap="none">
                <a:solidFill>
                  <a:srgbClr val="2D1B3D"/>
                </a:solidFill>
                <a:latin typeface="DM Sans"/>
                <a:ea typeface="DM Sans"/>
                <a:cs typeface="DM Sans"/>
                <a:sym typeface="DM Sans"/>
              </a:rPr>
              <a:t> Absolute fallback utilizing column median for isolated numerics, mode for categorical nulls, and a final sweep to guarantee 100% null elimination.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1333500" y="5422403"/>
            <a:ext cx="47625" cy="1312366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97095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1625" y="252144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71625" y="40719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71625" y="5622428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571500" y="-114895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Stage 3: The 5-Layer Preprocessing Engine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9391"/>
            <a:ext cx="3492549" cy="366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39391"/>
            <a:ext cx="3492549" cy="3665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39391"/>
            <a:ext cx="3492549" cy="366504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771525" y="4287291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Distributions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71525" y="4630191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Histograms per numeric column in responsive grids, alongside horizontal bar charts mapping top categorical values.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4549824" y="4287291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Time Series Trends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549824" y="4630191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Weekly-average line charts with area fill and monthly-average bar charts utilizing pandas resampling protocols.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328124" y="4287291"/>
            <a:ext cx="324712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Correlation Matrix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8328124" y="4630191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Pearson correlation heatmap for all numeric features, annotated with r-values to map physiological relationships.</a:t>
            </a:r>
            <a:endParaRPr/>
          </a:p>
        </p:txBody>
      </p:sp>
      <p:pic>
        <p:nvPicPr>
          <p:cNvPr id="235" name="Google Shape;23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239416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9824" y="2239416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239416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Stage 5: Exploratory Data Analysis (EDA)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/>
          <p:nvPr/>
        </p:nvSpPr>
        <p:spPr>
          <a:xfrm>
            <a:off x="571500" y="1095821"/>
            <a:ext cx="11049000" cy="555218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5" name="Google Shape;245;p21"/>
          <p:cNvGraphicFramePr/>
          <p:nvPr/>
        </p:nvGraphicFramePr>
        <p:xfrm>
          <a:off x="571500" y="1095821"/>
          <a:ext cx="11049000" cy="5552250"/>
        </p:xfrm>
        <a:graphic>
          <a:graphicData uri="http://schemas.openxmlformats.org/drawingml/2006/table">
            <a:tbl>
              <a:tblPr firstRow="1" bandRow="1">
                <a:noFill/>
                <a:tableStyleId>{4247ECED-8874-40D7-BAB4-C569AB57A502}</a:tableStyleId>
              </a:tblPr>
              <a:tblGrid>
                <a:gridCol w="132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1B3D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Release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B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1B3D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B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1B3D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Business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B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v1.1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CSV &amp; PDF Report Export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Board-ready reports; enables downstream use in Power BI, Tableau, and ML pipelines.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v1.2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Multi-file Upload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Upload and merge up to 5 CSV files via configurable join key to consolidate health data.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v1.2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Statistical Tests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Adds inferential capability (Mann-Whitney U, Kruskal-Wallis) for deep research use.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v1.3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User Authentication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Streamlit-Authenticator integration enabling multi-user enterprise deployment with access control.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v2.0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ML Anomaly Detection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2D1B3D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Isolation Forest-based anomaly flagging for proactive detection of unusual fitness metric patterns.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" name="Google Shape;246;p21"/>
          <p:cNvSpPr/>
          <p:nvPr/>
        </p:nvSpPr>
        <p:spPr>
          <a:xfrm>
            <a:off x="571500" y="1767333"/>
            <a:ext cx="1323975" cy="28575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895475" y="1767333"/>
            <a:ext cx="2400002" cy="28575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295477" y="1767333"/>
            <a:ext cx="7325022" cy="28575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71500" y="2765375"/>
            <a:ext cx="1323975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895475" y="2765375"/>
            <a:ext cx="240000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295477" y="2765375"/>
            <a:ext cx="732502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571500" y="3734841"/>
            <a:ext cx="1323975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1895475" y="3734841"/>
            <a:ext cx="240000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295477" y="3734841"/>
            <a:ext cx="732502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71500" y="4704308"/>
            <a:ext cx="1323975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1895475" y="4704308"/>
            <a:ext cx="240000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4295477" y="4704308"/>
            <a:ext cx="732502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71500" y="5673774"/>
            <a:ext cx="1323975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895475" y="5673774"/>
            <a:ext cx="240000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295477" y="5673774"/>
            <a:ext cx="7325022" cy="9525"/>
          </a:xfrm>
          <a:prstGeom prst="rect">
            <a:avLst/>
          </a:prstGeom>
          <a:solidFill>
            <a:srgbClr val="EDE0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571500" y="209996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Future Development Roadmap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>
            <a:spLocks noGrp="1"/>
          </p:cNvSpPr>
          <p:nvPr>
            <p:ph type="title"/>
          </p:nvPr>
        </p:nvSpPr>
        <p:spPr>
          <a:xfrm>
            <a:off x="457200" y="274650"/>
            <a:ext cx="9092400" cy="989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3300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Overview Milestone-1</a:t>
            </a:r>
            <a:br>
              <a:rPr lang="en-US" sz="3300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</a:br>
            <a:r>
              <a:rPr lang="en-US" sz="2700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Preprocessing</a:t>
            </a:r>
            <a:endParaRPr sz="2700" dirty="0"/>
          </a:p>
        </p:txBody>
      </p:sp>
      <p:sp>
        <p:nvSpPr>
          <p:cNvPr id="267" name="Google Shape;26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150" y="1416850"/>
            <a:ext cx="11130100" cy="47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3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2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3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>
            <a:spLocks noGrp="1"/>
          </p:cNvSpPr>
          <p:nvPr>
            <p:ph type="ctrTitle"/>
          </p:nvPr>
        </p:nvSpPr>
        <p:spPr>
          <a:xfrm>
            <a:off x="1193725" y="374500"/>
            <a:ext cx="7264500" cy="1310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1100"/>
            </a:pPr>
            <a:r>
              <a:rPr lang="en-US" sz="3300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Overview Milestone-2</a:t>
            </a:r>
            <a:br>
              <a:rPr lang="en-US" sz="3300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</a:br>
            <a:r>
              <a:rPr lang="en-US" sz="2400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Pattern extraction</a:t>
            </a:r>
            <a:endParaRPr sz="2400" dirty="0"/>
          </a:p>
        </p:txBody>
      </p:sp>
      <p:sp>
        <p:nvSpPr>
          <p:cNvPr id="289" name="Google Shape;289;p26"/>
          <p:cNvSpPr txBox="1">
            <a:spLocks noGrp="1"/>
          </p:cNvSpPr>
          <p:nvPr>
            <p:ph type="subTitle" idx="1"/>
          </p:nvPr>
        </p:nvSpPr>
        <p:spPr>
          <a:xfrm>
            <a:off x="1371600" y="2738525"/>
            <a:ext cx="6400800" cy="1591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25" y="1825650"/>
            <a:ext cx="11117926" cy="450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4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574075" cy="634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0" cy="640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11ECD-8DF9-3672-DBDE-CD5C21AED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37995"/>
            <a:ext cx="7772400" cy="151564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Overview Milestone-3</a:t>
            </a:r>
            <a:br>
              <a:rPr lang="en-US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</a:br>
            <a:r>
              <a:rPr lang="en-US" sz="2700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Anomaly detection</a:t>
            </a:r>
            <a:br>
              <a:rPr lang="en-US" b="1" dirty="0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4B2859-7D73-4745-5664-A735371BD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329841"/>
            <a:ext cx="6400800" cy="330895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FD77A7-9DF7-B928-415C-CBD41EA8D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47" y="1354827"/>
            <a:ext cx="10797435" cy="525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61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B04-F41B-E0DD-B521-8CAD74C66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5100" y="2130425"/>
            <a:ext cx="6003099" cy="14700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E7458-DDE5-33FB-C853-8DC554366E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59EE0-A238-E8BE-97FE-2324E0EBF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" y="432969"/>
            <a:ext cx="12079386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34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4E77-A3C3-B433-F27E-C02A5221D0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05758-1768-A3BE-2D90-F818EE0254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04437-8169-3E83-D133-6F76B5C9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452022"/>
            <a:ext cx="12127017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48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16AA-CD36-B04C-1E2B-63A35D3FA6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8D1B6-8331-6BF2-7DCD-3DA2DA75C7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C53A5-C84C-F285-0D8C-538CAE41B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" y="442495"/>
            <a:ext cx="12107965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971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CF5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295275" y="2107852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6B2D8B"/>
                </a:solidFill>
                <a:latin typeface="Syne"/>
                <a:ea typeface="Syne"/>
                <a:cs typeface="Syne"/>
                <a:sym typeface="Syne"/>
              </a:rPr>
              <a:t>Questions?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571500" y="3212752"/>
            <a:ext cx="11049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B5C8A"/>
                </a:solidFill>
                <a:latin typeface="DM Sans"/>
                <a:ea typeface="DM Sans"/>
                <a:cs typeface="DM Sans"/>
                <a:sym typeface="DM Sans"/>
              </a:rPr>
              <a:t>Thank you for exploring FitPulse Analytics.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</Words>
  <Application>Microsoft Office PowerPoint</Application>
  <PresentationFormat>Widescreen</PresentationFormat>
  <Paragraphs>102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Calibri</vt:lpstr>
      <vt:lpstr>Arial</vt:lpstr>
      <vt:lpstr>DM Sans</vt:lpstr>
      <vt:lpstr>Syne</vt:lpstr>
      <vt:lpstr>DM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Overview Milestone-1 Preprocessing</vt:lpstr>
      <vt:lpstr>PowerPoint Presentation</vt:lpstr>
      <vt:lpstr>PowerPoint Presentation</vt:lpstr>
      <vt:lpstr>PowerPoint Presentation</vt:lpstr>
      <vt:lpstr>Overview Milestone-2 Pattern extraction</vt:lpstr>
      <vt:lpstr>PowerPoint Presentation</vt:lpstr>
      <vt:lpstr>PowerPoint Presentation</vt:lpstr>
      <vt:lpstr>PowerPoint Presentation</vt:lpstr>
      <vt:lpstr>Overview Milestone-3 Anomaly detection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Shah</cp:lastModifiedBy>
  <cp:revision>1</cp:revision>
  <dcterms:modified xsi:type="dcterms:W3CDTF">2026-03-26T20:01:27Z</dcterms:modified>
</cp:coreProperties>
</file>