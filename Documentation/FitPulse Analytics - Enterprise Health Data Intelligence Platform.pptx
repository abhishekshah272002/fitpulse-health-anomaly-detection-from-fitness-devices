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59" r:id="rId1"/>
  </p:sldMasterIdLst>
  <p:notesMasterIdLst>
    <p:notesMasterId r:id="rId24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83" r:id="rId11"/>
    <p:sldId id="284" r:id="rId12"/>
    <p:sldId id="285" r:id="rId13"/>
    <p:sldId id="265" r:id="rId14"/>
    <p:sldId id="268" r:id="rId15"/>
    <p:sldId id="269" r:id="rId16"/>
    <p:sldId id="282" r:id="rId17"/>
    <p:sldId id="274" r:id="rId18"/>
    <p:sldId id="276" r:id="rId19"/>
    <p:sldId id="277" r:id="rId20"/>
    <p:sldId id="278" r:id="rId21"/>
    <p:sldId id="279" r:id="rId22"/>
    <p:sldId id="281" r:id="rId23"/>
  </p:sldIdLst>
  <p:sldSz cx="12192000" cy="6858000"/>
  <p:notesSz cx="6858000" cy="9144000"/>
  <p:embeddedFontLst>
    <p:embeddedFont>
      <p:font typeface="DM Mono" panose="020B0509040201040103" pitchFamily="49" charset="0"/>
      <p:regular r:id="rId25"/>
      <p:italic r:id="rId26"/>
    </p:embeddedFont>
    <p:embeddedFont>
      <p:font typeface="DM Sans" pitchFamily="2" charset="0"/>
      <p:regular r:id="rId27"/>
      <p:bold r:id="rId28"/>
      <p:italic r:id="rId29"/>
      <p:boldItalic r:id="rId30"/>
    </p:embeddedFont>
    <p:embeddedFont>
      <p:font typeface="Syne" panose="020B0604020202020204" charset="0"/>
      <p:regular r:id="rId31"/>
      <p:bold r:id="rId3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247ECED-8874-40D7-BAB4-C569AB57A502}">
  <a:tblStyle styleId="{4247ECED-8874-40D7-BAB4-C569AB57A502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8ECF4"/>
          </a:solidFill>
        </a:fill>
      </a:tcStyle>
    </a:wholeTbl>
    <a:band1H>
      <a:tcTxStyle/>
      <a:tcStyle>
        <a:tcBdr/>
        <a:fill>
          <a:solidFill>
            <a:srgbClr val="CFD7E7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FD7E7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 i="off">
        <a:font>
          <a:latin typeface="Calibri"/>
          <a:ea typeface="Calibri"/>
          <a:cs typeface="Calibri"/>
        </a:font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1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Calibri"/>
          <a:ea typeface="Calibri"/>
          <a:cs typeface="Calibri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1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294" y="120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font" Target="fonts/font8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font" Target="fonts/font6.fntdata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2" name="Google Shape;8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3" name="Google Shape;93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3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4" name="Google Shape;114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31" name="Google Shape;131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5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54" name="Google Shape;15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77" name="Google Shape;17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7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01" name="Google Shape;201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23" name="Google Shape;223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1" name="Google Shape;241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Google Shape;263;g3d2718e7292_0_8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4" name="Google Shape;264;g3d2718e7292_0_8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g3d2718e7292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3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1" name="Google Shape;281;g3d2718e7292_0_2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d2718e7292_0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6" name="Google Shape;286;g3d2718e7292_0_3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4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5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6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6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7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7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7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7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9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9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0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1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1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1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11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1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1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1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12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1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1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1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1.png"/><Relationship Id="rId7" Type="http://schemas.openxmlformats.org/officeDocument/2006/relationships/image" Target="../media/image7.png"/><Relationship Id="rId12" Type="http://schemas.openxmlformats.org/officeDocument/2006/relationships/image" Target="../media/image1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11" Type="http://schemas.openxmlformats.org/officeDocument/2006/relationships/image" Target="../media/image11.png"/><Relationship Id="rId5" Type="http://schemas.openxmlformats.org/officeDocument/2006/relationships/image" Target="../media/image5.png"/><Relationship Id="rId10" Type="http://schemas.openxmlformats.org/officeDocument/2006/relationships/image" Target="../media/image10.png"/><Relationship Id="rId4" Type="http://schemas.openxmlformats.org/officeDocument/2006/relationships/image" Target="../media/image4.png"/><Relationship Id="rId9" Type="http://schemas.openxmlformats.org/officeDocument/2006/relationships/image" Target="../media/image9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7.png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2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3.png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29.png"/><Relationship Id="rId3" Type="http://schemas.openxmlformats.org/officeDocument/2006/relationships/image" Target="../media/image1.png"/><Relationship Id="rId7" Type="http://schemas.openxmlformats.org/officeDocument/2006/relationships/image" Target="../media/image2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7.png"/><Relationship Id="rId5" Type="http://schemas.openxmlformats.org/officeDocument/2006/relationships/image" Target="../media/image26.png"/><Relationship Id="rId4" Type="http://schemas.openxmlformats.org/officeDocument/2006/relationships/image" Target="../media/image25.png"/><Relationship Id="rId9" Type="http://schemas.openxmlformats.org/officeDocument/2006/relationships/image" Target="../media/image3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CF5"/>
        </a:solidFill>
        <a:effectLst/>
      </p:bgPr>
    </p:bg>
    <p:spTree>
      <p:nvGrpSpPr>
        <p:cNvPr id="1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Google Shape;84;p13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85" name="Google Shape;85;p13"/>
          <p:cNvSpPr txBox="1"/>
          <p:nvPr/>
        </p:nvSpPr>
        <p:spPr>
          <a:xfrm>
            <a:off x="1919425" y="1795700"/>
            <a:ext cx="8309100" cy="75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0998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75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FitPulse Analytics</a:t>
            </a:r>
            <a:endParaRPr/>
          </a:p>
        </p:txBody>
      </p:sp>
      <p:sp>
        <p:nvSpPr>
          <p:cNvPr id="86" name="Google Shape;86;p13"/>
          <p:cNvSpPr/>
          <p:nvPr/>
        </p:nvSpPr>
        <p:spPr>
          <a:xfrm>
            <a:off x="5715000" y="3000970"/>
            <a:ext cx="762000" cy="38100"/>
          </a:xfrm>
          <a:prstGeom prst="rect">
            <a:avLst/>
          </a:prstGeom>
          <a:solidFill>
            <a:srgbClr val="9B59B6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p13"/>
          <p:cNvSpPr txBox="1"/>
          <p:nvPr/>
        </p:nvSpPr>
        <p:spPr>
          <a:xfrm>
            <a:off x="1919425" y="3429005"/>
            <a:ext cx="8051400" cy="369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59944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7B5C8A"/>
                </a:solidFill>
                <a:latin typeface="DM Sans"/>
                <a:ea typeface="DM Sans"/>
                <a:cs typeface="DM Sans"/>
                <a:sym typeface="DM Sans"/>
              </a:rPr>
              <a:t>Enterprise Health Data Intelligence Platform</a:t>
            </a:r>
            <a:endParaRPr sz="2000"/>
          </a:p>
        </p:txBody>
      </p:sp>
      <p:sp>
        <p:nvSpPr>
          <p:cNvPr id="88" name="Google Shape;88;p13"/>
          <p:cNvSpPr txBox="1"/>
          <p:nvPr/>
        </p:nvSpPr>
        <p:spPr>
          <a:xfrm>
            <a:off x="1334150" y="4400350"/>
            <a:ext cx="9151500" cy="11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 i="0" u="none" strike="noStrike" cap="none">
                <a:solidFill>
                  <a:srgbClr val="7B5C8A"/>
                </a:solidFill>
                <a:latin typeface="DM Mono"/>
                <a:ea typeface="DM Mono"/>
                <a:cs typeface="DM Mono"/>
                <a:sym typeface="DM Mono"/>
              </a:rPr>
              <a:t>Technical Product Documentation</a:t>
            </a:r>
            <a:endParaRPr sz="2000" b="1" i="0" u="none" strike="noStrike" cap="none">
              <a:solidFill>
                <a:srgbClr val="7B5C8A"/>
              </a:solidFill>
              <a:latin typeface="DM Mono"/>
              <a:ea typeface="DM Mono"/>
              <a:cs typeface="DM Mono"/>
              <a:sym typeface="DM Mono"/>
            </a:endParaRPr>
          </a:p>
          <a:p>
            <a:pPr marL="0" marR="0" lvl="0" indent="0" algn="ctr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1">
                <a:solidFill>
                  <a:srgbClr val="7B5C8A"/>
                </a:solidFill>
                <a:latin typeface="DM Mono"/>
                <a:ea typeface="DM Mono"/>
                <a:cs typeface="DM Mono"/>
                <a:sym typeface="DM Mono"/>
              </a:rPr>
              <a:t>By Abhishek Shah</a:t>
            </a:r>
            <a:endParaRPr sz="2200" b="1"/>
          </a:p>
        </p:txBody>
      </p:sp>
      <p:pic>
        <p:nvPicPr>
          <p:cNvPr id="89" name="Google Shape;89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9358300" y="995437"/>
            <a:ext cx="2350825" cy="2350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90" name="Google Shape;90;p13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76300" y="4400350"/>
            <a:ext cx="2124024" cy="212402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CF5"/>
        </a:solid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5" name="Google Shape;95;p14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96" name="Google Shape;96;p14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000398"/>
            <a:ext cx="3492549" cy="3742878"/>
          </a:xfrm>
          <a:prstGeom prst="rect">
            <a:avLst/>
          </a:prstGeom>
          <a:noFill/>
          <a:ln>
            <a:noFill/>
          </a:ln>
        </p:spPr>
      </p:pic>
      <p:pic>
        <p:nvPicPr>
          <p:cNvPr id="97" name="Google Shape;97;p14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799" y="2000398"/>
            <a:ext cx="3492549" cy="3742878"/>
          </a:xfrm>
          <a:prstGeom prst="rect">
            <a:avLst/>
          </a:prstGeom>
          <a:noFill/>
          <a:ln>
            <a:noFill/>
          </a:ln>
        </p:spPr>
      </p:pic>
      <p:pic>
        <p:nvPicPr>
          <p:cNvPr id="98" name="Google Shape;98;p14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099" y="2000398"/>
            <a:ext cx="3492549" cy="3742878"/>
          </a:xfrm>
          <a:prstGeom prst="rect">
            <a:avLst/>
          </a:prstGeom>
          <a:noFill/>
          <a:ln>
            <a:noFill/>
          </a:ln>
        </p:spPr>
      </p:pic>
      <p:pic>
        <p:nvPicPr>
          <p:cNvPr id="99" name="Google Shape;99;p14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914400" y="2343298"/>
            <a:ext cx="76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14"/>
          <p:cNvSpPr txBox="1"/>
          <p:nvPr/>
        </p:nvSpPr>
        <p:spPr>
          <a:xfrm>
            <a:off x="914400" y="3343423"/>
            <a:ext cx="1950243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Data Quality</a:t>
            </a:r>
            <a:endParaRPr/>
          </a:p>
        </p:txBody>
      </p:sp>
      <p:sp>
        <p:nvSpPr>
          <p:cNvPr id="101" name="Google Shape;101;p14"/>
          <p:cNvSpPr txBox="1"/>
          <p:nvPr/>
        </p:nvSpPr>
        <p:spPr>
          <a:xfrm>
            <a:off x="914400" y="3810148"/>
            <a:ext cx="2806749" cy="14473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Automated five-layer null remediation eliminates manual data-cleaning effort, reducing pre-analysis preparation time by an estimated 70–85%.</a:t>
            </a:r>
            <a:endParaRPr/>
          </a:p>
        </p:txBody>
      </p:sp>
      <p:pic>
        <p:nvPicPr>
          <p:cNvPr id="102" name="Google Shape;102;p14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692699" y="2343298"/>
            <a:ext cx="76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14"/>
          <p:cNvSpPr txBox="1"/>
          <p:nvPr/>
        </p:nvSpPr>
        <p:spPr>
          <a:xfrm>
            <a:off x="4692699" y="3343423"/>
            <a:ext cx="1610201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Scalability</a:t>
            </a:r>
            <a:endParaRPr/>
          </a:p>
        </p:txBody>
      </p:sp>
      <p:sp>
        <p:nvSpPr>
          <p:cNvPr id="104" name="Google Shape;104;p14"/>
          <p:cNvSpPr txBox="1"/>
          <p:nvPr/>
        </p:nvSpPr>
        <p:spPr>
          <a:xfrm>
            <a:off x="4692699" y="3810148"/>
            <a:ext cx="2806749" cy="14473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Handles datasets from hundreds to tens of thousands of rows with consistent performance, leveraging Pandas vectorised operations.</a:t>
            </a:r>
            <a:endParaRPr/>
          </a:p>
        </p:txBody>
      </p:sp>
      <p:pic>
        <p:nvPicPr>
          <p:cNvPr id="105" name="Google Shape;105;p14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470999" y="2343298"/>
            <a:ext cx="762000" cy="762000"/>
          </a:xfrm>
          <a:prstGeom prst="rect">
            <a:avLst/>
          </a:prstGeom>
          <a:noFill/>
          <a:ln>
            <a:noFill/>
          </a:ln>
        </p:spPr>
      </p:pic>
      <p:sp>
        <p:nvSpPr>
          <p:cNvPr id="106" name="Google Shape;106;p14"/>
          <p:cNvSpPr txBox="1"/>
          <p:nvPr/>
        </p:nvSpPr>
        <p:spPr>
          <a:xfrm>
            <a:off x="8470999" y="3343423"/>
            <a:ext cx="2340292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Insight Velocity</a:t>
            </a:r>
            <a:endParaRPr/>
          </a:p>
        </p:txBody>
      </p:sp>
      <p:sp>
        <p:nvSpPr>
          <p:cNvPr id="107" name="Google Shape;107;p14"/>
          <p:cNvSpPr txBox="1"/>
          <p:nvPr/>
        </p:nvSpPr>
        <p:spPr>
          <a:xfrm>
            <a:off x="8470999" y="3810148"/>
            <a:ext cx="2806749" cy="14473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Full Exploratory Data Analysis (EDA)—including descriptive stats, correlations, and distributions—delivered in a single button click.</a:t>
            </a:r>
            <a:endParaRPr/>
          </a:p>
        </p:txBody>
      </p:sp>
      <p:pic>
        <p:nvPicPr>
          <p:cNvPr id="108" name="Google Shape;108;p14" descr="image.png"/>
          <p:cNvPicPr preferRelativeResize="0"/>
          <p:nvPr/>
        </p:nvPicPr>
        <p:blipFill rotWithShape="1">
          <a:blip r:embed="rId10">
            <a:alphaModFix/>
          </a:blip>
          <a:srcRect/>
          <a:stretch/>
        </p:blipFill>
        <p:spPr>
          <a:xfrm>
            <a:off x="1071562" y="2524273"/>
            <a:ext cx="447675" cy="400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09" name="Google Shape;109;p14" descr="image.png"/>
          <p:cNvPicPr preferRelativeResize="0"/>
          <p:nvPr/>
        </p:nvPicPr>
        <p:blipFill rotWithShape="1">
          <a:blip r:embed="rId11">
            <a:alphaModFix/>
          </a:blip>
          <a:srcRect/>
          <a:stretch/>
        </p:blipFill>
        <p:spPr>
          <a:xfrm>
            <a:off x="4873674" y="2524273"/>
            <a:ext cx="400050" cy="4000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4" descr="image.png"/>
          <p:cNvPicPr preferRelativeResize="0"/>
          <p:nvPr/>
        </p:nvPicPr>
        <p:blipFill rotWithShape="1">
          <a:blip r:embed="rId12">
            <a:alphaModFix/>
          </a:blip>
          <a:srcRect/>
          <a:stretch/>
        </p:blipFill>
        <p:spPr>
          <a:xfrm>
            <a:off x="8651974" y="2524273"/>
            <a:ext cx="400050" cy="400050"/>
          </a:xfrm>
          <a:prstGeom prst="rect">
            <a:avLst/>
          </a:prstGeom>
          <a:noFill/>
          <a:ln>
            <a:noFill/>
          </a:ln>
        </p:spPr>
      </p:pic>
      <p:sp>
        <p:nvSpPr>
          <p:cNvPr id="111" name="Google Shape;111;p14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Strategic Value Proposition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CF5"/>
        </a:solidFill>
        <a:effectLst/>
      </p:bgPr>
    </p:bg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15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15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6334125" y="1237952"/>
            <a:ext cx="5286375" cy="3619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8" name="Google Shape;118;p15"/>
          <p:cNvSpPr txBox="1"/>
          <p:nvPr/>
        </p:nvSpPr>
        <p:spPr>
          <a:xfrm>
            <a:off x="571500" y="1237952"/>
            <a:ext cx="5550693" cy="64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Addressing Raw Dataset Deficiencies</a:t>
            </a:r>
            <a:endParaRPr/>
          </a:p>
        </p:txBody>
      </p:sp>
      <p:sp>
        <p:nvSpPr>
          <p:cNvPr id="119" name="Google Shape;119;p15"/>
          <p:cNvSpPr txBox="1"/>
          <p:nvPr/>
        </p:nvSpPr>
        <p:spPr>
          <a:xfrm>
            <a:off x="571500" y="2028527"/>
            <a:ext cx="5286375" cy="11578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Raw fitness and health datasets—sourced from wearable devices, HR management systems, wellness applications, and manual entry—invariably arrive with significant data quality deficiencies.</a:t>
            </a:r>
            <a:endParaRPr/>
          </a:p>
        </p:txBody>
      </p:sp>
      <p:sp>
        <p:nvSpPr>
          <p:cNvPr id="120" name="Google Shape;120;p15"/>
          <p:cNvSpPr txBox="1"/>
          <p:nvPr/>
        </p:nvSpPr>
        <p:spPr>
          <a:xfrm>
            <a:off x="571500" y="5494734"/>
            <a:ext cx="5286375" cy="868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FitPulse Analytics dissolves these barriers through intelligent, fully automated data remediation, enabling analysts to proceed directly to insight generation.</a:t>
            </a:r>
            <a:endParaRPr/>
          </a:p>
        </p:txBody>
      </p:sp>
      <p:sp>
        <p:nvSpPr>
          <p:cNvPr id="121" name="Google Shape;121;p15"/>
          <p:cNvSpPr txBox="1"/>
          <p:nvPr/>
        </p:nvSpPr>
        <p:spPr>
          <a:xfrm>
            <a:off x="742950" y="3331190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22" name="Google Shape;122;p15"/>
          <p:cNvSpPr txBox="1"/>
          <p:nvPr/>
        </p:nvSpPr>
        <p:spPr>
          <a:xfrm>
            <a:off x="809625" y="3329285"/>
            <a:ext cx="504825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Pervasive Null Values:</a:t>
            </a: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 Gaps in tracking creating analytical blind spots.</a:t>
            </a:r>
            <a:endParaRPr/>
          </a:p>
        </p:txBody>
      </p:sp>
      <p:sp>
        <p:nvSpPr>
          <p:cNvPr id="123" name="Google Shape;123;p15"/>
          <p:cNvSpPr txBox="1"/>
          <p:nvPr/>
        </p:nvSpPr>
        <p:spPr>
          <a:xfrm>
            <a:off x="742950" y="4053006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24" name="Google Shape;124;p15"/>
          <p:cNvSpPr txBox="1"/>
          <p:nvPr/>
        </p:nvSpPr>
        <p:spPr>
          <a:xfrm>
            <a:off x="809625" y="4051101"/>
            <a:ext cx="504825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Inconsistent Formats:</a:t>
            </a: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 Date parsing errors and unmapped categorical entries.</a:t>
            </a:r>
            <a:endParaRPr/>
          </a:p>
        </p:txBody>
      </p:sp>
      <p:sp>
        <p:nvSpPr>
          <p:cNvPr id="125" name="Google Shape;125;p15"/>
          <p:cNvSpPr txBox="1"/>
          <p:nvPr/>
        </p:nvSpPr>
        <p:spPr>
          <a:xfrm>
            <a:off x="742950" y="4774822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26" name="Google Shape;126;p15"/>
          <p:cNvSpPr txBox="1"/>
          <p:nvPr/>
        </p:nvSpPr>
        <p:spPr>
          <a:xfrm>
            <a:off x="809625" y="4772917"/>
            <a:ext cx="504825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Structural Irregularities:</a:t>
            </a: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 Primary barriers to meaningful pattern analysis.</a:t>
            </a:r>
            <a:endParaRPr/>
          </a:p>
        </p:txBody>
      </p:sp>
      <p:pic>
        <p:nvPicPr>
          <p:cNvPr id="127" name="Google Shape;127;p15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43650" y="1247477"/>
            <a:ext cx="5267325" cy="3600450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5"/>
          <p:cNvSpPr txBox="1"/>
          <p:nvPr/>
        </p:nvSpPr>
        <p:spPr>
          <a:xfrm>
            <a:off x="571500" y="352127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The Data Quality Challenge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CF5"/>
        </a:solidFill>
        <a:effectLst/>
      </p:bgPr>
    </p:bg>
    <p:spTree>
      <p:nvGrpSpPr>
        <p:cNvPr id="1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3" name="Google Shape;133;p16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134" name="Google Shape;134;p16"/>
          <p:cNvSpPr/>
          <p:nvPr/>
        </p:nvSpPr>
        <p:spPr>
          <a:xfrm>
            <a:off x="571500" y="1240631"/>
            <a:ext cx="11049000" cy="5262711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135" name="Google Shape;135;p16"/>
          <p:cNvGraphicFramePr/>
          <p:nvPr/>
        </p:nvGraphicFramePr>
        <p:xfrm>
          <a:off x="571500" y="1240631"/>
          <a:ext cx="11049000" cy="5262750"/>
        </p:xfrm>
        <a:graphic>
          <a:graphicData uri="http://schemas.openxmlformats.org/drawingml/2006/table">
            <a:tbl>
              <a:tblPr firstRow="1" bandRow="1">
                <a:noFill/>
                <a:tableStyleId>{4247ECED-8874-40D7-BAB4-C569AB57A502}</a:tableStyleId>
              </a:tblPr>
              <a:tblGrid>
                <a:gridCol w="243572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1436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469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877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2D1B3D"/>
                          </a:solidFill>
                          <a:latin typeface="Syne"/>
                          <a:ea typeface="Syne"/>
                          <a:cs typeface="Syne"/>
                          <a:sym typeface="Syne"/>
                        </a:rPr>
                        <a:t>User Segment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B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2D1B3D"/>
                          </a:solidFill>
                          <a:latin typeface="Syne"/>
                          <a:ea typeface="Syne"/>
                          <a:cs typeface="Syne"/>
                          <a:sym typeface="Syne"/>
                        </a:rPr>
                        <a:t>Primary Use Case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B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2D1B3D"/>
                          </a:solidFill>
                          <a:latin typeface="Syne"/>
                          <a:ea typeface="Syne"/>
                          <a:cs typeface="Syne"/>
                          <a:sym typeface="Syne"/>
                        </a:rPr>
                        <a:t>Key Platform Benefit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BF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877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1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Corporate HR &amp; Wellness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Employee fitness programme monitoring and reporting.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No-code EDA with export-ready visualisations.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877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1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Data Analysts &amp; Scientists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Rapid dataset profiling and null-value auditing.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Automated preprocessing reduces setup time significantly.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877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1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Healthcare Admins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Patient fitness metric trend analysis.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Time-series and outlier detection built-in.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877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1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Product Managers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Fitness platform data quality reviews.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Pipeline audit log provides full operational transparency.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87712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1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Business Intelligence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KPI dashboards fed from cleaned datasets.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Clean, structured data ready for downstream BI tools.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136" name="Google Shape;136;p16"/>
          <p:cNvSpPr/>
          <p:nvPr/>
        </p:nvSpPr>
        <p:spPr>
          <a:xfrm>
            <a:off x="571500" y="1912143"/>
            <a:ext cx="2435721" cy="28575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7" name="Google Shape;137;p16"/>
          <p:cNvSpPr/>
          <p:nvPr/>
        </p:nvSpPr>
        <p:spPr>
          <a:xfrm>
            <a:off x="3007221" y="1912143"/>
            <a:ext cx="4143672" cy="28575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6"/>
          <p:cNvSpPr/>
          <p:nvPr/>
        </p:nvSpPr>
        <p:spPr>
          <a:xfrm>
            <a:off x="7150893" y="1912143"/>
            <a:ext cx="4469606" cy="28575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9" name="Google Shape;139;p16"/>
          <p:cNvSpPr/>
          <p:nvPr/>
        </p:nvSpPr>
        <p:spPr>
          <a:xfrm>
            <a:off x="571500" y="2910185"/>
            <a:ext cx="2435721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16"/>
          <p:cNvSpPr/>
          <p:nvPr/>
        </p:nvSpPr>
        <p:spPr>
          <a:xfrm>
            <a:off x="3007221" y="2910185"/>
            <a:ext cx="4143672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1" name="Google Shape;141;p16"/>
          <p:cNvSpPr/>
          <p:nvPr/>
        </p:nvSpPr>
        <p:spPr>
          <a:xfrm>
            <a:off x="7150893" y="2910185"/>
            <a:ext cx="4469606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16"/>
          <p:cNvSpPr/>
          <p:nvPr/>
        </p:nvSpPr>
        <p:spPr>
          <a:xfrm>
            <a:off x="571500" y="3879651"/>
            <a:ext cx="2435721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3" name="Google Shape;143;p16"/>
          <p:cNvSpPr/>
          <p:nvPr/>
        </p:nvSpPr>
        <p:spPr>
          <a:xfrm>
            <a:off x="3007221" y="3879651"/>
            <a:ext cx="4143672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4" name="Google Shape;144;p16"/>
          <p:cNvSpPr/>
          <p:nvPr/>
        </p:nvSpPr>
        <p:spPr>
          <a:xfrm>
            <a:off x="7150893" y="3879651"/>
            <a:ext cx="4469606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p16"/>
          <p:cNvSpPr/>
          <p:nvPr/>
        </p:nvSpPr>
        <p:spPr>
          <a:xfrm>
            <a:off x="571500" y="4559647"/>
            <a:ext cx="2435721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p16"/>
          <p:cNvSpPr/>
          <p:nvPr/>
        </p:nvSpPr>
        <p:spPr>
          <a:xfrm>
            <a:off x="3007221" y="4559647"/>
            <a:ext cx="4143672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7" name="Google Shape;147;p16"/>
          <p:cNvSpPr/>
          <p:nvPr/>
        </p:nvSpPr>
        <p:spPr>
          <a:xfrm>
            <a:off x="7150893" y="4559647"/>
            <a:ext cx="4469606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8" name="Google Shape;148;p16"/>
          <p:cNvSpPr/>
          <p:nvPr/>
        </p:nvSpPr>
        <p:spPr>
          <a:xfrm>
            <a:off x="571500" y="5529113"/>
            <a:ext cx="2435721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9" name="Google Shape;149;p16"/>
          <p:cNvSpPr/>
          <p:nvPr/>
        </p:nvSpPr>
        <p:spPr>
          <a:xfrm>
            <a:off x="3007221" y="5529113"/>
            <a:ext cx="4143672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16"/>
          <p:cNvSpPr/>
          <p:nvPr/>
        </p:nvSpPr>
        <p:spPr>
          <a:xfrm>
            <a:off x="7150893" y="5529113"/>
            <a:ext cx="4469606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1" name="Google Shape;151;p16"/>
          <p:cNvSpPr txBox="1"/>
          <p:nvPr/>
        </p:nvSpPr>
        <p:spPr>
          <a:xfrm>
            <a:off x="571500" y="354806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Target Audience &amp; Primary Use Cases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CF5"/>
        </a:solidFill>
        <a:effectLst/>
      </p:bgPr>
    </p:bg>
    <p:spTree>
      <p:nvGrpSpPr>
        <p:cNvPr id="1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17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57" name="Google Shape;157;p17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4395787"/>
            <a:ext cx="2651670" cy="1382762"/>
          </a:xfrm>
          <a:prstGeom prst="rect">
            <a:avLst/>
          </a:prstGeom>
          <a:noFill/>
          <a:ln>
            <a:noFill/>
          </a:ln>
        </p:spPr>
      </p:pic>
      <p:pic>
        <p:nvPicPr>
          <p:cNvPr id="158" name="Google Shape;158;p17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3370510" y="2346275"/>
            <a:ext cx="2651670" cy="1382762"/>
          </a:xfrm>
          <a:prstGeom prst="rect">
            <a:avLst/>
          </a:prstGeom>
          <a:noFill/>
          <a:ln>
            <a:noFill/>
          </a:ln>
        </p:spPr>
      </p:pic>
      <p:pic>
        <p:nvPicPr>
          <p:cNvPr id="159" name="Google Shape;159;p17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6169521" y="4395787"/>
            <a:ext cx="2651670" cy="1382762"/>
          </a:xfrm>
          <a:prstGeom prst="rect">
            <a:avLst/>
          </a:prstGeom>
          <a:noFill/>
          <a:ln>
            <a:noFill/>
          </a:ln>
        </p:spPr>
      </p:pic>
      <p:pic>
        <p:nvPicPr>
          <p:cNvPr id="160" name="Google Shape;160;p17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8968531" y="2346275"/>
            <a:ext cx="2651670" cy="138276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17"/>
          <p:cNvSpPr/>
          <p:nvPr/>
        </p:nvSpPr>
        <p:spPr>
          <a:xfrm>
            <a:off x="571500" y="4033837"/>
            <a:ext cx="11049000" cy="57150"/>
          </a:xfrm>
          <a:prstGeom prst="roundRect">
            <a:avLst>
              <a:gd name="adj" fmla="val 50000"/>
            </a:avLst>
          </a:prstGeom>
          <a:solidFill>
            <a:srgbClr val="C4A0C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17"/>
          <p:cNvSpPr txBox="1"/>
          <p:nvPr/>
        </p:nvSpPr>
        <p:spPr>
          <a:xfrm>
            <a:off x="715234" y="4595812"/>
            <a:ext cx="2364201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1. CSV Ingestion</a:t>
            </a:r>
            <a:endParaRPr/>
          </a:p>
        </p:txBody>
      </p:sp>
      <p:sp>
        <p:nvSpPr>
          <p:cNvPr id="163" name="Google Shape;163;p17"/>
          <p:cNvSpPr txBox="1"/>
          <p:nvPr/>
        </p:nvSpPr>
        <p:spPr>
          <a:xfrm>
            <a:off x="771525" y="4938712"/>
            <a:ext cx="2251620" cy="639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7B5C8A"/>
                </a:solidFill>
                <a:latin typeface="DM Sans"/>
                <a:ea typeface="DM Sans"/>
                <a:cs typeface="DM Sans"/>
                <a:sym typeface="DM Sans"/>
              </a:rPr>
              <a:t>Raw .csv file to In-memory DataFrame via robust encoding detection and file-state guard.</a:t>
            </a:r>
            <a:endParaRPr/>
          </a:p>
        </p:txBody>
      </p:sp>
      <p:sp>
        <p:nvSpPr>
          <p:cNvPr id="164" name="Google Shape;164;p17"/>
          <p:cNvSpPr txBox="1"/>
          <p:nvPr/>
        </p:nvSpPr>
        <p:spPr>
          <a:xfrm>
            <a:off x="3514245" y="2546300"/>
            <a:ext cx="2364201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2. Null Inspection</a:t>
            </a:r>
            <a:endParaRPr/>
          </a:p>
        </p:txBody>
      </p:sp>
      <p:sp>
        <p:nvSpPr>
          <p:cNvPr id="165" name="Google Shape;165;p17"/>
          <p:cNvSpPr txBox="1"/>
          <p:nvPr/>
        </p:nvSpPr>
        <p:spPr>
          <a:xfrm>
            <a:off x="3570535" y="2889200"/>
            <a:ext cx="2251620" cy="639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7B5C8A"/>
                </a:solidFill>
                <a:latin typeface="DM Sans"/>
                <a:ea typeface="DM Sans"/>
                <a:cs typeface="DM Sans"/>
                <a:sym typeface="DM Sans"/>
              </a:rPr>
              <a:t>Column-level null counts, heatmaps, and KPI audits to isolate missing fitness metrics.</a:t>
            </a:r>
            <a:endParaRPr/>
          </a:p>
        </p:txBody>
      </p:sp>
      <p:sp>
        <p:nvSpPr>
          <p:cNvPr id="166" name="Google Shape;166;p17"/>
          <p:cNvSpPr txBox="1"/>
          <p:nvPr/>
        </p:nvSpPr>
        <p:spPr>
          <a:xfrm>
            <a:off x="6313255" y="4595812"/>
            <a:ext cx="2364201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3. Preprocessing</a:t>
            </a:r>
            <a:endParaRPr/>
          </a:p>
        </p:txBody>
      </p:sp>
      <p:sp>
        <p:nvSpPr>
          <p:cNvPr id="167" name="Google Shape;167;p17"/>
          <p:cNvSpPr txBox="1"/>
          <p:nvPr/>
        </p:nvSpPr>
        <p:spPr>
          <a:xfrm>
            <a:off x="6369546" y="4938712"/>
            <a:ext cx="2251620" cy="639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7B5C8A"/>
                </a:solidFill>
                <a:latin typeface="DM Sans"/>
                <a:ea typeface="DM Sans"/>
                <a:cs typeface="DM Sans"/>
                <a:sym typeface="DM Sans"/>
              </a:rPr>
              <a:t>Deterministic 5-layer null remediation guaranteeing complete null elimination.</a:t>
            </a:r>
            <a:endParaRPr/>
          </a:p>
        </p:txBody>
      </p:sp>
      <p:sp>
        <p:nvSpPr>
          <p:cNvPr id="168" name="Google Shape;168;p17"/>
          <p:cNvSpPr txBox="1"/>
          <p:nvPr/>
        </p:nvSpPr>
        <p:spPr>
          <a:xfrm>
            <a:off x="9112266" y="2546300"/>
            <a:ext cx="2364201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4. EDA Generation</a:t>
            </a:r>
            <a:endParaRPr/>
          </a:p>
        </p:txBody>
      </p:sp>
      <p:sp>
        <p:nvSpPr>
          <p:cNvPr id="169" name="Google Shape;169;p17"/>
          <p:cNvSpPr txBox="1"/>
          <p:nvPr/>
        </p:nvSpPr>
        <p:spPr>
          <a:xfrm>
            <a:off x="9168556" y="2889200"/>
            <a:ext cx="2251620" cy="6398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ctr" rtl="0">
              <a:lnSpc>
                <a:spcPct val="139916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7B5C8A"/>
                </a:solidFill>
                <a:latin typeface="DM Sans"/>
                <a:ea typeface="DM Sans"/>
                <a:cs typeface="DM Sans"/>
                <a:sym typeface="DM Sans"/>
              </a:rPr>
              <a:t>8 interactive charts including distributions, correlations, and time series generated instantly.</a:t>
            </a:r>
            <a:endParaRPr/>
          </a:p>
        </p:txBody>
      </p:sp>
      <p:sp>
        <p:nvSpPr>
          <p:cNvPr id="170" name="Google Shape;170;p17"/>
          <p:cNvSpPr/>
          <p:nvPr/>
        </p:nvSpPr>
        <p:spPr>
          <a:xfrm>
            <a:off x="1763985" y="3929062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5ECF5"/>
          </a:solidFill>
          <a:ln w="57150" cap="flat" cmpd="sng">
            <a:solidFill>
              <a:srgbClr val="6B2D8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17"/>
          <p:cNvSpPr/>
          <p:nvPr/>
        </p:nvSpPr>
        <p:spPr>
          <a:xfrm>
            <a:off x="4562995" y="3929062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5ECF5"/>
          </a:solidFill>
          <a:ln w="57150" cap="flat" cmpd="sng">
            <a:solidFill>
              <a:srgbClr val="6B2D8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17"/>
          <p:cNvSpPr/>
          <p:nvPr/>
        </p:nvSpPr>
        <p:spPr>
          <a:xfrm>
            <a:off x="7362006" y="3929062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5ECF5"/>
          </a:solidFill>
          <a:ln w="57150" cap="flat" cmpd="sng">
            <a:solidFill>
              <a:srgbClr val="6B2D8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3" name="Google Shape;173;p17"/>
          <p:cNvSpPr/>
          <p:nvPr/>
        </p:nvSpPr>
        <p:spPr>
          <a:xfrm>
            <a:off x="10161016" y="3929062"/>
            <a:ext cx="266700" cy="266700"/>
          </a:xfrm>
          <a:prstGeom prst="roundRect">
            <a:avLst>
              <a:gd name="adj" fmla="val 50000"/>
            </a:avLst>
          </a:prstGeom>
          <a:solidFill>
            <a:srgbClr val="F5ECF5"/>
          </a:solidFill>
          <a:ln w="57150" cap="flat" cmpd="sng">
            <a:solidFill>
              <a:srgbClr val="6B2D8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17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Five-Stage Pipeline Architecture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CF5"/>
        </a:solidFill>
        <a:effectLst/>
      </p:bgPr>
    </p:bg>
    <p:spTree>
      <p:nvGrpSpPr>
        <p:cNvPr id="1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9" name="Google Shape;179;p18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80" name="Google Shape;180;p18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1514921"/>
            <a:ext cx="5286375" cy="4713982"/>
          </a:xfrm>
          <a:prstGeom prst="rect">
            <a:avLst/>
          </a:prstGeom>
          <a:noFill/>
          <a:ln>
            <a:noFill/>
          </a:ln>
        </p:spPr>
      </p:pic>
      <p:pic>
        <p:nvPicPr>
          <p:cNvPr id="181" name="Google Shape;181;p18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6334125" y="1514921"/>
            <a:ext cx="5286375" cy="4713982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18"/>
          <p:cNvSpPr txBox="1"/>
          <p:nvPr/>
        </p:nvSpPr>
        <p:spPr>
          <a:xfrm>
            <a:off x="962025" y="1905446"/>
            <a:ext cx="4730591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Stage 1: CSV Upload</a:t>
            </a:r>
            <a:endParaRPr/>
          </a:p>
        </p:txBody>
      </p:sp>
      <p:sp>
        <p:nvSpPr>
          <p:cNvPr id="183" name="Google Shape;183;p18"/>
          <p:cNvSpPr txBox="1"/>
          <p:nvPr/>
        </p:nvSpPr>
        <p:spPr>
          <a:xfrm>
            <a:off x="962025" y="2372171"/>
            <a:ext cx="4505325" cy="868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Embedded within the sidebar, utilising Streamlit's native file_uploader widget styled with the platform's custom CSS.</a:t>
            </a:r>
            <a:endParaRPr/>
          </a:p>
        </p:txBody>
      </p:sp>
      <p:sp>
        <p:nvSpPr>
          <p:cNvPr id="184" name="Google Shape;184;p18"/>
          <p:cNvSpPr txBox="1"/>
          <p:nvPr/>
        </p:nvSpPr>
        <p:spPr>
          <a:xfrm>
            <a:off x="6724650" y="1905446"/>
            <a:ext cx="4730591" cy="3238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Stage 2: Null Value Inspector</a:t>
            </a:r>
            <a:endParaRPr/>
          </a:p>
        </p:txBody>
      </p:sp>
      <p:sp>
        <p:nvSpPr>
          <p:cNvPr id="185" name="Google Shape;185;p18"/>
          <p:cNvSpPr txBox="1"/>
          <p:nvPr/>
        </p:nvSpPr>
        <p:spPr>
          <a:xfrm>
            <a:off x="6724650" y="2372171"/>
            <a:ext cx="4505325" cy="868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Delivers a comprehensive multi-dimensional audit of missing data, architected as a self-contained module.</a:t>
            </a:r>
            <a:endParaRPr/>
          </a:p>
        </p:txBody>
      </p:sp>
      <p:sp>
        <p:nvSpPr>
          <p:cNvPr id="186" name="Google Shape;186;p18"/>
          <p:cNvSpPr txBox="1"/>
          <p:nvPr/>
        </p:nvSpPr>
        <p:spPr>
          <a:xfrm>
            <a:off x="1133475" y="3385363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87" name="Google Shape;187;p18"/>
          <p:cNvSpPr txBox="1"/>
          <p:nvPr/>
        </p:nvSpPr>
        <p:spPr>
          <a:xfrm>
            <a:off x="1200150" y="3383458"/>
            <a:ext cx="426720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Capacity:</a:t>
            </a: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 Accepts CSV files up to 200 MB via drag-and-drop.</a:t>
            </a:r>
            <a:endParaRPr/>
          </a:p>
        </p:txBody>
      </p:sp>
      <p:sp>
        <p:nvSpPr>
          <p:cNvPr id="188" name="Google Shape;188;p18"/>
          <p:cNvSpPr txBox="1"/>
          <p:nvPr/>
        </p:nvSpPr>
        <p:spPr>
          <a:xfrm>
            <a:off x="1133475" y="4107180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89" name="Google Shape;189;p18"/>
          <p:cNvSpPr txBox="1"/>
          <p:nvPr/>
        </p:nvSpPr>
        <p:spPr>
          <a:xfrm>
            <a:off x="1200150" y="4105275"/>
            <a:ext cx="4267200" cy="868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Architecture:</a:t>
            </a: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 Implements a file-name guard; session state resets exclusively upon detection of a genuinely new file.</a:t>
            </a:r>
            <a:endParaRPr/>
          </a:p>
        </p:txBody>
      </p:sp>
      <p:sp>
        <p:nvSpPr>
          <p:cNvPr id="190" name="Google Shape;190;p18"/>
          <p:cNvSpPr txBox="1"/>
          <p:nvPr/>
        </p:nvSpPr>
        <p:spPr>
          <a:xfrm>
            <a:off x="1133475" y="5118467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91" name="Google Shape;191;p18"/>
          <p:cNvSpPr txBox="1"/>
          <p:nvPr/>
        </p:nvSpPr>
        <p:spPr>
          <a:xfrm>
            <a:off x="1200150" y="5116562"/>
            <a:ext cx="426720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Feedback:</a:t>
            </a: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 Animated loader provides real-time progress while displaying 4 initial KPI cards.</a:t>
            </a:r>
            <a:endParaRPr/>
          </a:p>
        </p:txBody>
      </p:sp>
      <p:sp>
        <p:nvSpPr>
          <p:cNvPr id="192" name="Google Shape;192;p18"/>
          <p:cNvSpPr txBox="1"/>
          <p:nvPr/>
        </p:nvSpPr>
        <p:spPr>
          <a:xfrm>
            <a:off x="6896100" y="3385363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93" name="Google Shape;193;p18"/>
          <p:cNvSpPr txBox="1"/>
          <p:nvPr/>
        </p:nvSpPr>
        <p:spPr>
          <a:xfrm>
            <a:off x="6962775" y="3383458"/>
            <a:ext cx="426720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KPI Cards:</a:t>
            </a: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 Total Null Cells, Affected Columns, Clean Columns, Null Rate.</a:t>
            </a:r>
            <a:endParaRPr/>
          </a:p>
        </p:txBody>
      </p:sp>
      <p:sp>
        <p:nvSpPr>
          <p:cNvPr id="194" name="Google Shape;194;p18"/>
          <p:cNvSpPr txBox="1"/>
          <p:nvPr/>
        </p:nvSpPr>
        <p:spPr>
          <a:xfrm>
            <a:off x="6896100" y="4107180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95" name="Google Shape;195;p18"/>
          <p:cNvSpPr txBox="1"/>
          <p:nvPr/>
        </p:nvSpPr>
        <p:spPr>
          <a:xfrm>
            <a:off x="6962775" y="4105275"/>
            <a:ext cx="4267200" cy="5789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Visualizations:</a:t>
            </a: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 Horizontal bar chart ranked by null severity (purple → red).</a:t>
            </a:r>
            <a:endParaRPr/>
          </a:p>
        </p:txBody>
      </p:sp>
      <p:sp>
        <p:nvSpPr>
          <p:cNvPr id="196" name="Google Shape;196;p18"/>
          <p:cNvSpPr txBox="1"/>
          <p:nvPr/>
        </p:nvSpPr>
        <p:spPr>
          <a:xfrm>
            <a:off x="6896100" y="4828996"/>
            <a:ext cx="66675" cy="2857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•</a:t>
            </a:r>
            <a:endParaRPr/>
          </a:p>
        </p:txBody>
      </p:sp>
      <p:sp>
        <p:nvSpPr>
          <p:cNvPr id="197" name="Google Shape;197;p18"/>
          <p:cNvSpPr txBox="1"/>
          <p:nvPr/>
        </p:nvSpPr>
        <p:spPr>
          <a:xfrm>
            <a:off x="6962775" y="4827091"/>
            <a:ext cx="4267200" cy="8684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6675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Heatmap:</a:t>
            </a: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 500-row sample null presence heatmap for immediate visual pattern identification.</a:t>
            </a:r>
            <a:endParaRPr/>
          </a:p>
        </p:txBody>
      </p:sp>
      <p:sp>
        <p:nvSpPr>
          <p:cNvPr id="198" name="Google Shape;198;p18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Stages 1 &amp; 2: Ingestion &amp; Inspection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CF5"/>
        </a:solidFill>
        <a:effectLst/>
      </p:bgPr>
    </p:bg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3" name="Google Shape;203;p19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04" name="Google Shape;204;p19"/>
          <p:cNvSpPr/>
          <p:nvPr/>
        </p:nvSpPr>
        <p:spPr>
          <a:xfrm>
            <a:off x="1333500" y="770929"/>
            <a:ext cx="9525000" cy="1312366"/>
          </a:xfrm>
          <a:prstGeom prst="roundRect">
            <a:avLst>
              <a:gd name="adj" fmla="val 5806"/>
            </a:avLst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5" name="Google Shape;205;p19"/>
          <p:cNvSpPr txBox="1"/>
          <p:nvPr/>
        </p:nvSpPr>
        <p:spPr>
          <a:xfrm>
            <a:off x="1952625" y="961429"/>
            <a:ext cx="8715375" cy="9313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6B2D8B"/>
                </a:solidFill>
                <a:latin typeface="DM Sans"/>
                <a:ea typeface="DM Sans"/>
                <a:cs typeface="DM Sans"/>
                <a:sym typeface="DM Sans"/>
              </a:rPr>
              <a:t>Layer A: Datetime Parsing</a:t>
            </a: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 Columns containing date/time keywords are parsed to datetime64[ns], preparing them for accurate time-series analysis and normalizing invalid values.</a:t>
            </a:r>
            <a:endParaRPr/>
          </a:p>
        </p:txBody>
      </p:sp>
      <p:sp>
        <p:nvSpPr>
          <p:cNvPr id="206" name="Google Shape;206;p19"/>
          <p:cNvSpPr/>
          <p:nvPr/>
        </p:nvSpPr>
        <p:spPr>
          <a:xfrm>
            <a:off x="1333500" y="770929"/>
            <a:ext cx="47625" cy="1312366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19"/>
          <p:cNvSpPr/>
          <p:nvPr/>
        </p:nvSpPr>
        <p:spPr>
          <a:xfrm>
            <a:off x="1333500" y="2321421"/>
            <a:ext cx="9525000" cy="1312366"/>
          </a:xfrm>
          <a:prstGeom prst="roundRect">
            <a:avLst>
              <a:gd name="adj" fmla="val 5806"/>
            </a:avLst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8" name="Google Shape;208;p19"/>
          <p:cNvSpPr txBox="1"/>
          <p:nvPr/>
        </p:nvSpPr>
        <p:spPr>
          <a:xfrm>
            <a:off x="1952625" y="2511921"/>
            <a:ext cx="8715375" cy="9313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6B2D8B"/>
                </a:solidFill>
                <a:latin typeface="DM Sans"/>
                <a:ea typeface="DM Sans"/>
                <a:cs typeface="DM Sans"/>
                <a:sym typeface="DM Sans"/>
              </a:rPr>
              <a:t>Layer B: Linear Interpolation</a:t>
            </a: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 Intelligently fills gaps between known numeric values. This is ideal for time-ordered fitness metrics like step counts or heart rate tracking.</a:t>
            </a:r>
            <a:endParaRPr/>
          </a:p>
        </p:txBody>
      </p:sp>
      <p:sp>
        <p:nvSpPr>
          <p:cNvPr id="209" name="Google Shape;209;p19"/>
          <p:cNvSpPr/>
          <p:nvPr/>
        </p:nvSpPr>
        <p:spPr>
          <a:xfrm>
            <a:off x="1333500" y="2321421"/>
            <a:ext cx="47625" cy="1312366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19"/>
          <p:cNvSpPr/>
          <p:nvPr/>
        </p:nvSpPr>
        <p:spPr>
          <a:xfrm>
            <a:off x="1333500" y="3871912"/>
            <a:ext cx="9525000" cy="1312366"/>
          </a:xfrm>
          <a:prstGeom prst="roundRect">
            <a:avLst>
              <a:gd name="adj" fmla="val 5806"/>
            </a:avLst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19"/>
          <p:cNvSpPr txBox="1"/>
          <p:nvPr/>
        </p:nvSpPr>
        <p:spPr>
          <a:xfrm>
            <a:off x="1952625" y="4062412"/>
            <a:ext cx="8715375" cy="9313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6B2D8B"/>
                </a:solidFill>
                <a:latin typeface="DM Sans"/>
                <a:ea typeface="DM Sans"/>
                <a:cs typeface="DM Sans"/>
                <a:sym typeface="DM Sans"/>
              </a:rPr>
              <a:t>Layer C &amp; D: Forward (ffill) &amp; Backward (bfill) Fill</a:t>
            </a: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 Propagates the last known value forward (addressing trailing nulls) and the next known value backward (addressing leading nulls) to ensure continuity.</a:t>
            </a:r>
            <a:endParaRPr/>
          </a:p>
        </p:txBody>
      </p:sp>
      <p:sp>
        <p:nvSpPr>
          <p:cNvPr id="212" name="Google Shape;212;p19"/>
          <p:cNvSpPr/>
          <p:nvPr/>
        </p:nvSpPr>
        <p:spPr>
          <a:xfrm>
            <a:off x="1333500" y="3871912"/>
            <a:ext cx="47625" cy="1312366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19"/>
          <p:cNvSpPr/>
          <p:nvPr/>
        </p:nvSpPr>
        <p:spPr>
          <a:xfrm>
            <a:off x="1333500" y="5422403"/>
            <a:ext cx="9525000" cy="1312366"/>
          </a:xfrm>
          <a:prstGeom prst="roundRect">
            <a:avLst>
              <a:gd name="adj" fmla="val 5806"/>
            </a:avLst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4" name="Google Shape;214;p19"/>
          <p:cNvSpPr txBox="1"/>
          <p:nvPr/>
        </p:nvSpPr>
        <p:spPr>
          <a:xfrm>
            <a:off x="1952625" y="5612903"/>
            <a:ext cx="8715375" cy="93136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59929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25" b="1" i="0" u="none" strike="noStrike" cap="none">
                <a:solidFill>
                  <a:srgbClr val="6B2D8B"/>
                </a:solidFill>
                <a:latin typeface="DM Sans"/>
                <a:ea typeface="DM Sans"/>
                <a:cs typeface="DM Sans"/>
                <a:sym typeface="DM Sans"/>
              </a:rPr>
              <a:t>Layer E: Median, Mode &amp; Safety Net</a:t>
            </a:r>
            <a:r>
              <a:rPr lang="en-US" sz="1425" b="0" i="0" u="none" strike="noStrike" cap="none">
                <a:solidFill>
                  <a:srgbClr val="2D1B3D"/>
                </a:solidFill>
                <a:latin typeface="DM Sans"/>
                <a:ea typeface="DM Sans"/>
                <a:cs typeface="DM Sans"/>
                <a:sym typeface="DM Sans"/>
              </a:rPr>
              <a:t> Absolute fallback utilizing column median for isolated numerics, mode for categorical nulls, and a final sweep to guarantee 100% null elimination.</a:t>
            </a:r>
            <a:endParaRPr/>
          </a:p>
        </p:txBody>
      </p:sp>
      <p:sp>
        <p:nvSpPr>
          <p:cNvPr id="215" name="Google Shape;215;p19"/>
          <p:cNvSpPr/>
          <p:nvPr/>
        </p:nvSpPr>
        <p:spPr>
          <a:xfrm>
            <a:off x="1333500" y="5422403"/>
            <a:ext cx="47625" cy="1312366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216" name="Google Shape;216;p19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571625" y="970954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7" name="Google Shape;217;p19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1571625" y="2521446"/>
            <a:ext cx="228600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8" name="Google Shape;218;p19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571625" y="4071937"/>
            <a:ext cx="200025" cy="2476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9" name="Google Shape;219;p19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1571625" y="5622428"/>
            <a:ext cx="228600" cy="247650"/>
          </a:xfrm>
          <a:prstGeom prst="rect">
            <a:avLst/>
          </a:prstGeom>
          <a:noFill/>
          <a:ln>
            <a:noFill/>
          </a:ln>
        </p:spPr>
      </p:pic>
      <p:sp>
        <p:nvSpPr>
          <p:cNvPr id="220" name="Google Shape;220;p19"/>
          <p:cNvSpPr txBox="1"/>
          <p:nvPr/>
        </p:nvSpPr>
        <p:spPr>
          <a:xfrm>
            <a:off x="571500" y="-114895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Stage 3: The 5-Layer Preprocessing Engine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CF5"/>
        </a:solidFill>
        <a:effectLst/>
      </p:bgPr>
    </p:bg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" name="Google Shape;225;p20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26" name="Google Shape;226;p20" descr="image.png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00" y="2039391"/>
            <a:ext cx="3492549" cy="3665041"/>
          </a:xfrm>
          <a:prstGeom prst="rect">
            <a:avLst/>
          </a:prstGeom>
          <a:noFill/>
          <a:ln>
            <a:noFill/>
          </a:ln>
        </p:spPr>
      </p:pic>
      <p:pic>
        <p:nvPicPr>
          <p:cNvPr id="227" name="Google Shape;227;p20" descr="image.png"/>
          <p:cNvPicPr preferRelativeResize="0"/>
          <p:nvPr/>
        </p:nvPicPr>
        <p:blipFill rotWithShape="1">
          <a:blip r:embed="rId5">
            <a:alphaModFix/>
          </a:blip>
          <a:srcRect/>
          <a:stretch/>
        </p:blipFill>
        <p:spPr>
          <a:xfrm>
            <a:off x="4349799" y="2039391"/>
            <a:ext cx="3492549" cy="3665041"/>
          </a:xfrm>
          <a:prstGeom prst="rect">
            <a:avLst/>
          </a:prstGeom>
          <a:noFill/>
          <a:ln>
            <a:noFill/>
          </a:ln>
        </p:spPr>
      </p:pic>
      <p:pic>
        <p:nvPicPr>
          <p:cNvPr id="228" name="Google Shape;228;p20" descr="image.png"/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8128099" y="2039391"/>
            <a:ext cx="3492549" cy="3665041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20"/>
          <p:cNvSpPr txBox="1"/>
          <p:nvPr/>
        </p:nvSpPr>
        <p:spPr>
          <a:xfrm>
            <a:off x="771525" y="4287291"/>
            <a:ext cx="3247124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Distributions</a:t>
            </a:r>
            <a:endParaRPr/>
          </a:p>
        </p:txBody>
      </p:sp>
      <p:sp>
        <p:nvSpPr>
          <p:cNvPr id="230" name="Google Shape;230;p20"/>
          <p:cNvSpPr txBox="1"/>
          <p:nvPr/>
        </p:nvSpPr>
        <p:spPr>
          <a:xfrm>
            <a:off x="771525" y="4630191"/>
            <a:ext cx="3092499" cy="73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7B5C8A"/>
                </a:solidFill>
                <a:latin typeface="DM Sans"/>
                <a:ea typeface="DM Sans"/>
                <a:cs typeface="DM Sans"/>
                <a:sym typeface="DM Sans"/>
              </a:rPr>
              <a:t>Histograms per numeric column in responsive grids, alongside horizontal bar charts mapping top categorical values.</a:t>
            </a:r>
            <a:endParaRPr/>
          </a:p>
        </p:txBody>
      </p:sp>
      <p:sp>
        <p:nvSpPr>
          <p:cNvPr id="231" name="Google Shape;231;p20"/>
          <p:cNvSpPr txBox="1"/>
          <p:nvPr/>
        </p:nvSpPr>
        <p:spPr>
          <a:xfrm>
            <a:off x="4549824" y="4287291"/>
            <a:ext cx="3247124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Time Series Trends</a:t>
            </a:r>
            <a:endParaRPr/>
          </a:p>
        </p:txBody>
      </p:sp>
      <p:sp>
        <p:nvSpPr>
          <p:cNvPr id="232" name="Google Shape;232;p20"/>
          <p:cNvSpPr txBox="1"/>
          <p:nvPr/>
        </p:nvSpPr>
        <p:spPr>
          <a:xfrm>
            <a:off x="4549824" y="4630191"/>
            <a:ext cx="3092499" cy="73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7B5C8A"/>
                </a:solidFill>
                <a:latin typeface="DM Sans"/>
                <a:ea typeface="DM Sans"/>
                <a:cs typeface="DM Sans"/>
                <a:sym typeface="DM Sans"/>
              </a:rPr>
              <a:t>Weekly-average line charts with area fill and monthly-average bar charts utilizing pandas resampling protocols.</a:t>
            </a:r>
            <a:endParaRPr/>
          </a:p>
        </p:txBody>
      </p:sp>
      <p:sp>
        <p:nvSpPr>
          <p:cNvPr id="233" name="Google Shape;233;p20"/>
          <p:cNvSpPr txBox="1"/>
          <p:nvPr/>
        </p:nvSpPr>
        <p:spPr>
          <a:xfrm>
            <a:off x="8328124" y="4287291"/>
            <a:ext cx="3247124" cy="2476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65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Correlation Matrix</a:t>
            </a:r>
            <a:endParaRPr/>
          </a:p>
        </p:txBody>
      </p:sp>
      <p:sp>
        <p:nvSpPr>
          <p:cNvPr id="234" name="Google Shape;234;p20"/>
          <p:cNvSpPr txBox="1"/>
          <p:nvPr/>
        </p:nvSpPr>
        <p:spPr>
          <a:xfrm>
            <a:off x="8328124" y="4630191"/>
            <a:ext cx="3092499" cy="7313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lnSpc>
                <a:spcPct val="16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200" b="0" i="0" u="none" strike="noStrike" cap="none">
                <a:solidFill>
                  <a:srgbClr val="7B5C8A"/>
                </a:solidFill>
                <a:latin typeface="DM Sans"/>
                <a:ea typeface="DM Sans"/>
                <a:cs typeface="DM Sans"/>
                <a:sym typeface="DM Sans"/>
              </a:rPr>
              <a:t>Pearson correlation heatmap for all numeric features, annotated with r-values to map physiological relationships.</a:t>
            </a:r>
            <a:endParaRPr/>
          </a:p>
        </p:txBody>
      </p:sp>
      <p:pic>
        <p:nvPicPr>
          <p:cNvPr id="235" name="Google Shape;235;p20" descr="image.png"/>
          <p:cNvPicPr preferRelativeResize="0"/>
          <p:nvPr/>
        </p:nvPicPr>
        <p:blipFill rotWithShape="1">
          <a:blip r:embed="rId7">
            <a:alphaModFix/>
          </a:blip>
          <a:srcRect/>
          <a:stretch/>
        </p:blipFill>
        <p:spPr>
          <a:xfrm>
            <a:off x="771525" y="2239416"/>
            <a:ext cx="3092499" cy="190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6" name="Google Shape;236;p20" descr="image.png"/>
          <p:cNvPicPr preferRelativeResize="0"/>
          <p:nvPr/>
        </p:nvPicPr>
        <p:blipFill rotWithShape="1">
          <a:blip r:embed="rId8">
            <a:alphaModFix/>
          </a:blip>
          <a:srcRect/>
          <a:stretch/>
        </p:blipFill>
        <p:spPr>
          <a:xfrm>
            <a:off x="4549824" y="2239416"/>
            <a:ext cx="3092499" cy="19050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37" name="Google Shape;237;p20" descr="image.png"/>
          <p:cNvPicPr preferRelativeResize="0"/>
          <p:nvPr/>
        </p:nvPicPr>
        <p:blipFill rotWithShape="1">
          <a:blip r:embed="rId9">
            <a:alphaModFix/>
          </a:blip>
          <a:srcRect/>
          <a:stretch/>
        </p:blipFill>
        <p:spPr>
          <a:xfrm>
            <a:off x="8328124" y="2239416"/>
            <a:ext cx="3092499" cy="1905000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20"/>
          <p:cNvSpPr txBox="1"/>
          <p:nvPr/>
        </p:nvSpPr>
        <p:spPr>
          <a:xfrm>
            <a:off x="571500" y="571500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Stage 5: Exploratory Data Analysis (EDA)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ECF5"/>
        </a:solidFill>
        <a:effectLst/>
      </p:bgPr>
    </p:bg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3" name="Google Shape;243;p21" descr="image.png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0" y="0"/>
            <a:ext cx="12192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244" name="Google Shape;244;p21"/>
          <p:cNvSpPr/>
          <p:nvPr/>
        </p:nvSpPr>
        <p:spPr>
          <a:xfrm>
            <a:off x="571500" y="1095821"/>
            <a:ext cx="11049000" cy="5552182"/>
          </a:xfrm>
          <a:prstGeom prst="roundRect">
            <a:avLst>
              <a:gd name="adj" fmla="val 0"/>
            </a:avLst>
          </a:prstGeom>
          <a:solidFill>
            <a:srgbClr val="FFFFFF"/>
          </a:solidFill>
          <a:ln w="9525" cap="flat" cmpd="sng">
            <a:solidFill>
              <a:srgbClr val="4A7DBA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graphicFrame>
        <p:nvGraphicFramePr>
          <p:cNvPr id="245" name="Google Shape;245;p21"/>
          <p:cNvGraphicFramePr/>
          <p:nvPr/>
        </p:nvGraphicFramePr>
        <p:xfrm>
          <a:off x="571500" y="1095821"/>
          <a:ext cx="11049000" cy="5552250"/>
        </p:xfrm>
        <a:graphic>
          <a:graphicData uri="http://schemas.openxmlformats.org/drawingml/2006/table">
            <a:tbl>
              <a:tblPr firstRow="1" bandRow="1">
                <a:noFill/>
                <a:tableStyleId>{4247ECED-8874-40D7-BAB4-C569AB57A502}</a:tableStyleId>
              </a:tblPr>
              <a:tblGrid>
                <a:gridCol w="13239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0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32502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925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2D1B3D"/>
                          </a:solidFill>
                          <a:latin typeface="Syne"/>
                          <a:ea typeface="Syne"/>
                          <a:cs typeface="Syne"/>
                          <a:sym typeface="Syne"/>
                        </a:rPr>
                        <a:t>Release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B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>
                          <a:solidFill>
                            <a:srgbClr val="2D1B3D"/>
                          </a:solidFill>
                          <a:latin typeface="Syne"/>
                          <a:ea typeface="Syne"/>
                          <a:cs typeface="Syne"/>
                          <a:sym typeface="Syne"/>
                        </a:rPr>
                        <a:t>Feature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BFD8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500" b="1" i="0" u="none" strike="noStrike" cap="none" dirty="0">
                          <a:solidFill>
                            <a:srgbClr val="2D1B3D"/>
                          </a:solidFill>
                          <a:latin typeface="Syne"/>
                          <a:ea typeface="Syne"/>
                          <a:cs typeface="Syne"/>
                          <a:sym typeface="Syne"/>
                        </a:rPr>
                        <a:t>Business Value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D8BFD8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925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1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v1.1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CSV &amp; PDF Report Export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Board-ready reports; enables downstream use in Power BI, Tableau, and ML pipelines.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925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1" i="0" u="none" strike="noStrike" cap="none" dirty="0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v1.2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Multi-file Upload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Upload and merge up to 5 CSV files via configurable join key to consolidate health data.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925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1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v1.2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Statistical Tests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Adds inferential capability (Mann-Whitney U, Kruskal-Wallis) for deep research use.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925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1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v1.3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User Authentication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5F9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Streamlit-Authenticator integration enabling multi-user enterprise deployment with access control.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  <a:solidFill>
                      <a:srgbClr val="F9F5F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925375"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1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v2.0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ML Anomaly Detection</a:t>
                      </a:r>
                      <a:endParaRPr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425" b="0" i="0" u="none" strike="noStrike" cap="none" dirty="0">
                          <a:solidFill>
                            <a:srgbClr val="2D1B3D"/>
                          </a:solidFill>
                          <a:latin typeface="DM Sans"/>
                          <a:ea typeface="DM Sans"/>
                          <a:cs typeface="DM Sans"/>
                          <a:sym typeface="DM Sans"/>
                        </a:rPr>
                        <a:t>Isolation Forest-based anomaly flagging for proactive detection of unusual fitness metric patterns.</a:t>
                      </a:r>
                      <a:endParaRPr dirty="0"/>
                    </a:p>
                  </a:txBody>
                  <a:tcPr marL="63500" marR="63500" marT="25400" marB="25400" anchor="ctr">
                    <a:lnL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L>
                    <a:lnR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R>
                    <a:lnT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T>
                    <a:lnB w="9525" cap="flat" cmpd="sng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type="none" w="sm" len="sm"/>
                      <a:tailEnd type="none" w="sm" len="sm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46" name="Google Shape;246;p21"/>
          <p:cNvSpPr/>
          <p:nvPr/>
        </p:nvSpPr>
        <p:spPr>
          <a:xfrm>
            <a:off x="571500" y="1767333"/>
            <a:ext cx="1323975" cy="28575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7" name="Google Shape;247;p21"/>
          <p:cNvSpPr/>
          <p:nvPr/>
        </p:nvSpPr>
        <p:spPr>
          <a:xfrm>
            <a:off x="1895475" y="1767333"/>
            <a:ext cx="2400002" cy="28575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21"/>
          <p:cNvSpPr/>
          <p:nvPr/>
        </p:nvSpPr>
        <p:spPr>
          <a:xfrm>
            <a:off x="4295477" y="1767333"/>
            <a:ext cx="7325022" cy="28575"/>
          </a:xfrm>
          <a:prstGeom prst="rect">
            <a:avLst/>
          </a:prstGeom>
          <a:solidFill>
            <a:srgbClr val="6B2D8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9" name="Google Shape;249;p21"/>
          <p:cNvSpPr/>
          <p:nvPr/>
        </p:nvSpPr>
        <p:spPr>
          <a:xfrm>
            <a:off x="571500" y="2765375"/>
            <a:ext cx="1323975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21"/>
          <p:cNvSpPr/>
          <p:nvPr/>
        </p:nvSpPr>
        <p:spPr>
          <a:xfrm>
            <a:off x="1895475" y="2765375"/>
            <a:ext cx="2400002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1" name="Google Shape;251;p21"/>
          <p:cNvSpPr/>
          <p:nvPr/>
        </p:nvSpPr>
        <p:spPr>
          <a:xfrm>
            <a:off x="4295477" y="2765375"/>
            <a:ext cx="7325022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2" name="Google Shape;252;p21"/>
          <p:cNvSpPr/>
          <p:nvPr/>
        </p:nvSpPr>
        <p:spPr>
          <a:xfrm>
            <a:off x="571500" y="3734841"/>
            <a:ext cx="1323975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3" name="Google Shape;253;p21"/>
          <p:cNvSpPr/>
          <p:nvPr/>
        </p:nvSpPr>
        <p:spPr>
          <a:xfrm>
            <a:off x="1895475" y="3734841"/>
            <a:ext cx="2400002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4" name="Google Shape;254;p21"/>
          <p:cNvSpPr/>
          <p:nvPr/>
        </p:nvSpPr>
        <p:spPr>
          <a:xfrm>
            <a:off x="4295477" y="3734841"/>
            <a:ext cx="7325022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5" name="Google Shape;255;p21"/>
          <p:cNvSpPr/>
          <p:nvPr/>
        </p:nvSpPr>
        <p:spPr>
          <a:xfrm>
            <a:off x="571500" y="4704308"/>
            <a:ext cx="1323975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21"/>
          <p:cNvSpPr/>
          <p:nvPr/>
        </p:nvSpPr>
        <p:spPr>
          <a:xfrm>
            <a:off x="1895475" y="4704308"/>
            <a:ext cx="2400002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21"/>
          <p:cNvSpPr/>
          <p:nvPr/>
        </p:nvSpPr>
        <p:spPr>
          <a:xfrm>
            <a:off x="4295477" y="4704308"/>
            <a:ext cx="7325022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8" name="Google Shape;258;p21"/>
          <p:cNvSpPr/>
          <p:nvPr/>
        </p:nvSpPr>
        <p:spPr>
          <a:xfrm>
            <a:off x="571500" y="5673774"/>
            <a:ext cx="1323975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9" name="Google Shape;259;p21"/>
          <p:cNvSpPr/>
          <p:nvPr/>
        </p:nvSpPr>
        <p:spPr>
          <a:xfrm>
            <a:off x="1895475" y="5673774"/>
            <a:ext cx="2400002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21"/>
          <p:cNvSpPr/>
          <p:nvPr/>
        </p:nvSpPr>
        <p:spPr>
          <a:xfrm>
            <a:off x="4295477" y="5673774"/>
            <a:ext cx="7325022" cy="9525"/>
          </a:xfrm>
          <a:prstGeom prst="rect">
            <a:avLst/>
          </a:prstGeom>
          <a:solidFill>
            <a:srgbClr val="EDE0ED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21"/>
          <p:cNvSpPr txBox="1"/>
          <p:nvPr/>
        </p:nvSpPr>
        <p:spPr>
          <a:xfrm>
            <a:off x="571500" y="209996"/>
            <a:ext cx="11601450" cy="5048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300" b="1" i="0" u="none" strike="noStrike" cap="none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Future Development Roadmap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Rectangle 11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8" name="Rectangle 17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22" name="Isosceles Triangle 21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8EAE23ED-CABE-246E-6DF1-507668B4ABC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35100" y="80690"/>
            <a:ext cx="8915400" cy="6133843"/>
          </a:xfrm>
          <a:prstGeom prst="rect">
            <a:avLst/>
          </a:prstGeom>
          <a:ln>
            <a:noFill/>
          </a:ln>
        </p:spPr>
      </p:pic>
      <p:sp>
        <p:nvSpPr>
          <p:cNvPr id="24" name="Isosceles Triangle 23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667057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7AA1C68-2060-D2A5-5539-B93A60DE1B4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7653" y="101407"/>
            <a:ext cx="8623448" cy="6101089"/>
          </a:xfrm>
          <a:prstGeom prst="rect">
            <a:avLst/>
          </a:prstGeom>
          <a:ln>
            <a:noFill/>
          </a:ln>
        </p:spPr>
      </p:pic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073174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F3060C83-F051-4F0E-ABAD-AA0DFC48B21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0" name="Freeform: Shape 9">
            <a:extLst>
              <a:ext uri="{FF2B5EF4-FFF2-40B4-BE49-F238E27FC236}">
                <a16:creationId xmlns:a16="http://schemas.microsoft.com/office/drawing/2014/main" id="{83C98ABE-055B-441F-B07E-44F97F083C3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-376156" y="-253670"/>
            <a:ext cx="1827638" cy="1376989"/>
          </a:xfrm>
          <a:custGeom>
            <a:avLst/>
            <a:gdLst>
              <a:gd name="connsiteX0" fmla="*/ 0 w 1827638"/>
              <a:gd name="connsiteY0" fmla="*/ 987379 h 1376989"/>
              <a:gd name="connsiteX1" fmla="*/ 987379 w 1827638"/>
              <a:gd name="connsiteY1" fmla="*/ 0 h 1376989"/>
              <a:gd name="connsiteX2" fmla="*/ 1827638 w 1827638"/>
              <a:gd name="connsiteY2" fmla="*/ 840260 h 1376989"/>
              <a:gd name="connsiteX3" fmla="*/ 1827638 w 1827638"/>
              <a:gd name="connsiteY3" fmla="*/ 1376989 h 1376989"/>
              <a:gd name="connsiteX4" fmla="*/ 0 w 1827638"/>
              <a:gd name="connsiteY4" fmla="*/ 1376989 h 137698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1827638" h="1376989">
                <a:moveTo>
                  <a:pt x="0" y="987379"/>
                </a:moveTo>
                <a:lnTo>
                  <a:pt x="987379" y="0"/>
                </a:lnTo>
                <a:lnTo>
                  <a:pt x="1827638" y="840260"/>
                </a:lnTo>
                <a:lnTo>
                  <a:pt x="1827638" y="1376989"/>
                </a:lnTo>
                <a:lnTo>
                  <a:pt x="0" y="1376989"/>
                </a:lnTo>
                <a:close/>
              </a:path>
            </a:pathLst>
          </a:cu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29FDB030-9B49-4CED-8CCD-4D99382388A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891641" y="422146"/>
            <a:ext cx="645368" cy="645368"/>
          </a:xfrm>
          <a:prstGeom prst="rect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3783CA14-24A1-485C-8B30-D6A5D87987A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8900000" flipH="1">
            <a:off x="10043482" y="655140"/>
            <a:ext cx="687472" cy="687472"/>
          </a:xfrm>
          <a:prstGeom prst="rect">
            <a:avLst/>
          </a:pr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9A97C86A-04D6-40F7-AE84-31AB43E6A84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9356643" y="0"/>
            <a:ext cx="2835357" cy="1480837"/>
          </a:xfrm>
          <a:custGeom>
            <a:avLst/>
            <a:gdLst>
              <a:gd name="connsiteX0" fmla="*/ 2835357 w 2835357"/>
              <a:gd name="connsiteY0" fmla="*/ 1480837 h 1480837"/>
              <a:gd name="connsiteX1" fmla="*/ 0 w 2835357"/>
              <a:gd name="connsiteY1" fmla="*/ 1480837 h 1480837"/>
              <a:gd name="connsiteX2" fmla="*/ 1552727 w 2835357"/>
              <a:gd name="connsiteY2" fmla="*/ 0 h 1480837"/>
              <a:gd name="connsiteX3" fmla="*/ 2835357 w 2835357"/>
              <a:gd name="connsiteY3" fmla="*/ 1223245 h 14808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835357" h="1480837">
                <a:moveTo>
                  <a:pt x="2835357" y="1480837"/>
                </a:moveTo>
                <a:lnTo>
                  <a:pt x="0" y="1480837"/>
                </a:lnTo>
                <a:lnTo>
                  <a:pt x="1552727" y="0"/>
                </a:lnTo>
                <a:lnTo>
                  <a:pt x="2835357" y="1223245"/>
                </a:lnTo>
                <a:close/>
              </a:path>
            </a:pathLst>
          </a:custGeom>
          <a:solidFill>
            <a:schemeClr val="accent4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dirty="0"/>
          </a:p>
        </p:txBody>
      </p:sp>
      <p:sp>
        <p:nvSpPr>
          <p:cNvPr id="18" name="Isosceles Triangle 17">
            <a:extLst>
              <a:ext uri="{FF2B5EF4-FFF2-40B4-BE49-F238E27FC236}">
                <a16:creationId xmlns:a16="http://schemas.microsoft.com/office/drawing/2014/main" id="{FF9F2414-84E8-453E-B1F3-389FDE8192D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976344" y="6115501"/>
            <a:ext cx="1494513" cy="742499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98C0C21-5051-6AA4-DB85-3A925D4DC31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4200" y="393701"/>
            <a:ext cx="8920816" cy="5820832"/>
          </a:xfrm>
          <a:prstGeom prst="rect">
            <a:avLst/>
          </a:prstGeom>
          <a:ln>
            <a:noFill/>
          </a:ln>
        </p:spPr>
      </p:pic>
      <p:sp>
        <p:nvSpPr>
          <p:cNvPr id="20" name="Isosceles Triangle 19">
            <a:extLst>
              <a:ext uri="{FF2B5EF4-FFF2-40B4-BE49-F238E27FC236}">
                <a16:creationId xmlns:a16="http://schemas.microsoft.com/office/drawing/2014/main" id="{3ECA69A1-7536-43AC-85EF-C7106179F5E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7604080" y="6453143"/>
            <a:ext cx="814903" cy="404857"/>
          </a:xfrm>
          <a:prstGeom prst="triangle">
            <a:avLst/>
          </a:prstGeom>
          <a:solidFill>
            <a:schemeClr val="accent1">
              <a:alpha val="3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200604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" name="Google Shape;266;p22"/>
          <p:cNvSpPr txBox="1">
            <a:spLocks noGrp="1"/>
          </p:cNvSpPr>
          <p:nvPr>
            <p:ph type="title"/>
          </p:nvPr>
        </p:nvSpPr>
        <p:spPr>
          <a:xfrm>
            <a:off x="457200" y="274650"/>
            <a:ext cx="9092400" cy="9894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 fontScale="90000"/>
          </a:bodyPr>
          <a:lstStyle/>
          <a:p>
            <a:pPr lvl="0"/>
            <a:r>
              <a:rPr lang="en-US" sz="3300" b="1" dirty="0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Milestone-1</a:t>
            </a:r>
            <a:br>
              <a:rPr lang="en-US" sz="3300" b="1" dirty="0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</a:br>
            <a:r>
              <a:rPr lang="en-US" sz="2700" b="1" dirty="0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Preprocessing</a:t>
            </a:r>
            <a:endParaRPr sz="2700" dirty="0"/>
          </a:p>
        </p:txBody>
      </p:sp>
      <p:sp>
        <p:nvSpPr>
          <p:cNvPr id="267" name="Google Shape;267;p22"/>
          <p:cNvSpPr txBox="1">
            <a:spLocks noGrp="1"/>
          </p:cNvSpPr>
          <p:nvPr>
            <p:ph type="body" idx="1"/>
          </p:nvPr>
        </p:nvSpPr>
        <p:spPr>
          <a:xfrm>
            <a:off x="5022936" y="1600200"/>
            <a:ext cx="3663863" cy="4149247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l" rtl="0">
              <a:spcBef>
                <a:spcPts val="36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278" name="Google Shape;278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00416" y="1264050"/>
            <a:ext cx="11749414" cy="5319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3" name="Google Shape;283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52400" y="152400"/>
            <a:ext cx="11887199" cy="63077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6"/>
          <p:cNvSpPr txBox="1">
            <a:spLocks noGrp="1"/>
          </p:cNvSpPr>
          <p:nvPr>
            <p:ph type="ctrTitle"/>
          </p:nvPr>
        </p:nvSpPr>
        <p:spPr>
          <a:xfrm>
            <a:off x="1193725" y="374500"/>
            <a:ext cx="7264500" cy="1310700"/>
          </a:xfrm>
          <a:prstGeom prst="rect">
            <a:avLst/>
          </a:prstGeom>
        </p:spPr>
        <p:txBody>
          <a:bodyPr spcFirstLastPara="1" wrap="square" lIns="91425" tIns="45700" rIns="91425" bIns="45700" anchor="ctr" anchorCtr="0">
            <a:normAutofit/>
          </a:bodyPr>
          <a:lstStyle/>
          <a:p>
            <a:pPr lvl="0">
              <a:buSzPts val="1100"/>
            </a:pPr>
            <a:r>
              <a:rPr lang="en-US" sz="3300" b="1" dirty="0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Milestone-2</a:t>
            </a:r>
            <a:br>
              <a:rPr lang="en-US" sz="3300" b="1" dirty="0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</a:br>
            <a:r>
              <a:rPr lang="en-US" sz="2400" b="1" dirty="0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Pattern extraction</a:t>
            </a:r>
            <a:endParaRPr sz="2400" dirty="0"/>
          </a:p>
        </p:txBody>
      </p:sp>
      <p:sp>
        <p:nvSpPr>
          <p:cNvPr id="289" name="Google Shape;289;p26"/>
          <p:cNvSpPr txBox="1">
            <a:spLocks noGrp="1"/>
          </p:cNvSpPr>
          <p:nvPr>
            <p:ph type="subTitle" idx="1"/>
          </p:nvPr>
        </p:nvSpPr>
        <p:spPr>
          <a:xfrm>
            <a:off x="1371600" y="2738525"/>
            <a:ext cx="6400800" cy="15915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0" lvl="0" indent="0" algn="ctr" rtl="0">
              <a:spcBef>
                <a:spcPts val="64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300" name="Google Shape;300;p2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5364" y="1685200"/>
            <a:ext cx="11812044" cy="48141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22ABDC94-F9E5-D2BD-F9AA-93BB59DBD3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567" y="107804"/>
            <a:ext cx="11361107" cy="64307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671091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911ECD-8DF9-3672-DBDE-CD5C21AED63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237995"/>
            <a:ext cx="7772400" cy="1515649"/>
          </a:xfrm>
        </p:spPr>
        <p:txBody>
          <a:bodyPr>
            <a:normAutofit fontScale="90000"/>
          </a:bodyPr>
          <a:lstStyle/>
          <a:p>
            <a:r>
              <a:rPr lang="en-US" b="1" dirty="0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Milestone-3</a:t>
            </a:r>
            <a:br>
              <a:rPr lang="en-US" b="1" dirty="0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</a:br>
            <a:r>
              <a:rPr lang="en-US" sz="2700" b="1" dirty="0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Anomaly detection</a:t>
            </a:r>
            <a:br>
              <a:rPr lang="en-US" b="1" dirty="0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</a:br>
            <a:endParaRPr lang="en-IN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34B2859-7D73-4745-5664-A735371BD5C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371600" y="2329841"/>
            <a:ext cx="6400800" cy="3308959"/>
          </a:xfrm>
        </p:spPr>
        <p:txBody>
          <a:bodyPr/>
          <a:lstStyle/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6359EE0-A238-E8BE-97FE-2324E0EBFD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307" y="1365337"/>
            <a:ext cx="11805841" cy="52546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8656189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6F4E77-A3C3-B433-F27E-C02A5221D076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105758-1768-A3BE-2D90-F818EE0254D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C404437-8169-3E83-D133-6F76B5C942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91" y="452022"/>
            <a:ext cx="12127017" cy="59539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7104865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CB616AA-CD36-B04C-1E2B-63A35D3FA62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DA8D1B6-8331-6BF2-7DCD-3DA2DA75C74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67C53A5-C84C-F285-0D8C-538CAE41BE3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017" y="442495"/>
            <a:ext cx="12107965" cy="59730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99712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4E2E44-D4DE-77E9-8533-B3CEA1421E3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11476" y="246192"/>
            <a:ext cx="7772400" cy="1470025"/>
          </a:xfrm>
        </p:spPr>
        <p:txBody>
          <a:bodyPr/>
          <a:lstStyle/>
          <a:p>
            <a:r>
              <a:rPr lang="en-US" b="1" dirty="0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Milestone-4</a:t>
            </a:r>
            <a:br>
              <a:rPr lang="en-US" b="1" dirty="0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</a:br>
            <a:r>
              <a:rPr lang="en-US" sz="2400" b="1" dirty="0">
                <a:solidFill>
                  <a:srgbClr val="6B2D8B"/>
                </a:solidFill>
                <a:latin typeface="Syne"/>
                <a:ea typeface="Syne"/>
                <a:cs typeface="Syne"/>
                <a:sym typeface="Syne"/>
              </a:rPr>
              <a:t>Dashboard</a:t>
            </a:r>
            <a:endParaRPr lang="en-IN" sz="2400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085F879-9305-BA09-D1DA-849C9E0EA99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395601" y="3429000"/>
            <a:ext cx="6400800" cy="1752600"/>
          </a:xfrm>
        </p:spPr>
        <p:txBody>
          <a:bodyPr/>
          <a:lstStyle/>
          <a:p>
            <a:endParaRPr lang="en-I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2AADC10-028E-72F3-59D8-43127FDF38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676400"/>
            <a:ext cx="12164272" cy="50250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97308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8206664-B36A-2FB5-8764-50EB73C90F6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65" y="0"/>
            <a:ext cx="12146070" cy="64383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9288830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2A0FD8F-5A47-60CC-16D3-6AA4FEC123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12" y="338203"/>
            <a:ext cx="12184175" cy="61878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22319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479</TotalTime>
  <Words>806</Words>
  <Application>Microsoft Office PowerPoint</Application>
  <PresentationFormat>Widescreen</PresentationFormat>
  <Paragraphs>101</Paragraphs>
  <Slides>22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DM Sans</vt:lpstr>
      <vt:lpstr>DM Mono</vt:lpstr>
      <vt:lpstr>Arial</vt:lpstr>
      <vt:lpstr>Calibri</vt:lpstr>
      <vt:lpstr>Syne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Milestone-1 Preprocessing</vt:lpstr>
      <vt:lpstr>PowerPoint Presentation</vt:lpstr>
      <vt:lpstr>Milestone-2 Pattern extraction</vt:lpstr>
      <vt:lpstr>PowerPoint Presentation</vt:lpstr>
      <vt:lpstr>Milestone-3 Anomaly detection </vt:lpstr>
      <vt:lpstr>PowerPoint Presentation</vt:lpstr>
      <vt:lpstr>PowerPoint Presentation</vt:lpstr>
      <vt:lpstr>Milestone-4 Dashboard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ABHISHEK SHAH MCA2504020</cp:lastModifiedBy>
  <cp:revision>5</cp:revision>
  <dcterms:modified xsi:type="dcterms:W3CDTF">2026-04-04T14:07:46Z</dcterms:modified>
</cp:coreProperties>
</file>