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9" r:id="rId13"/>
    <p:sldId id="282" r:id="rId14"/>
    <p:sldId id="274" r:id="rId15"/>
    <p:sldId id="276" r:id="rId16"/>
    <p:sldId id="277" r:id="rId17"/>
    <p:sldId id="278" r:id="rId18"/>
    <p:sldId id="279" r:id="rId19"/>
    <p:sldId id="281" r:id="rId20"/>
    <p:sldId id="273" r:id="rId21"/>
  </p:sldIdLst>
  <p:sldSz cx="12192000" cy="6858000"/>
  <p:notesSz cx="6858000" cy="9144000"/>
  <p:embeddedFontLst>
    <p:embeddedFont>
      <p:font typeface="DM Mono" panose="020B0509040201040103" pitchFamily="49" charset="0"/>
      <p:regular r:id="rId23"/>
      <p:italic r:id="rId24"/>
    </p:embeddedFont>
    <p:embeddedFont>
      <p:font typeface="DM Sans" pitchFamily="2" charset="0"/>
      <p:regular r:id="rId25"/>
      <p:bold r:id="rId26"/>
      <p:italic r:id="rId27"/>
      <p:boldItalic r:id="rId28"/>
    </p:embeddedFont>
    <p:embeddedFont>
      <p:font typeface="Syne" panose="020B0604020202020204" charset="0"/>
      <p:regular r:id="rId29"/>
      <p:bold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247ECED-8874-40D7-BAB4-C569AB57A502}">
  <a:tblStyle styleId="{4247ECED-8874-40D7-BAB4-C569AB57A50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25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d2718e7292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d2718e7292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d2718e7292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d2718e7292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d2718e7292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d2718e7292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919425" y="1795700"/>
            <a:ext cx="8309100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75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FitPulse Analytics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5715000" y="3000970"/>
            <a:ext cx="762000" cy="381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919425" y="3429005"/>
            <a:ext cx="8051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Enterprise Health Data Intelligence Platform</a:t>
            </a:r>
            <a:endParaRPr sz="2000"/>
          </a:p>
        </p:txBody>
      </p:sp>
      <p:sp>
        <p:nvSpPr>
          <p:cNvPr id="88" name="Google Shape;88;p13"/>
          <p:cNvSpPr txBox="1"/>
          <p:nvPr/>
        </p:nvSpPr>
        <p:spPr>
          <a:xfrm>
            <a:off x="1334150" y="4400350"/>
            <a:ext cx="9151500" cy="11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7B5C8A"/>
                </a:solidFill>
                <a:latin typeface="DM Mono"/>
                <a:ea typeface="DM Mono"/>
                <a:cs typeface="DM Mono"/>
                <a:sym typeface="DM Mono"/>
              </a:rPr>
              <a:t>Technical Product Documentation</a:t>
            </a:r>
            <a:endParaRPr sz="2000" b="1" i="0" u="none" strike="noStrike" cap="none">
              <a:solidFill>
                <a:srgbClr val="7B5C8A"/>
              </a:solidFill>
              <a:latin typeface="DM Mono"/>
              <a:ea typeface="DM Mono"/>
              <a:cs typeface="DM Mono"/>
              <a:sym typeface="DM Mono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7B5C8A"/>
                </a:solidFill>
                <a:latin typeface="DM Mono"/>
                <a:ea typeface="DM Mono"/>
                <a:cs typeface="DM Mono"/>
                <a:sym typeface="DM Mono"/>
              </a:rPr>
              <a:t>By Abhishek Shah</a:t>
            </a:r>
            <a:endParaRPr sz="2200" b="1"/>
          </a:p>
        </p:txBody>
      </p:sp>
      <p:pic>
        <p:nvPicPr>
          <p:cNvPr id="89" name="Google Shape;89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58300" y="995437"/>
            <a:ext cx="2350825" cy="235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6300" y="4400350"/>
            <a:ext cx="2124024" cy="2124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00398"/>
            <a:ext cx="3492549" cy="374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00398"/>
            <a:ext cx="3492549" cy="374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00398"/>
            <a:ext cx="3492549" cy="374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14400" y="2343298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914400" y="3343423"/>
            <a:ext cx="195024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Data Quality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914400" y="3810148"/>
            <a:ext cx="2806749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Automated five-layer null remediation eliminates manual data-cleaning effort, reducing pre-analysis preparation time by an estimated 70–85%.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92699" y="2343298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692699" y="3343423"/>
            <a:ext cx="161020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Scalability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92699" y="3810148"/>
            <a:ext cx="2806749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Handles datasets from hundreds to tens of thousands of rows with consistent performance, leveraging Pandas vectorised operations.</a:t>
            </a:r>
            <a:endParaRPr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70999" y="2343298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8470999" y="3343423"/>
            <a:ext cx="234029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Insight Velocity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470999" y="3810148"/>
            <a:ext cx="2806749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Full Exploratory Data Analysis (EDA)—including descriptive stats, correlations, and distributions—delivered in a single button click.</a:t>
            </a:r>
            <a:endParaRPr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1562" y="2524273"/>
            <a:ext cx="4476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873674" y="2524273"/>
            <a:ext cx="400050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51974" y="2524273"/>
            <a:ext cx="400050" cy="40005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Strategic Value Proposition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237952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571500" y="1237952"/>
            <a:ext cx="5550693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Addressing Raw Dataset Deficiencies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571500" y="2028527"/>
            <a:ext cx="5286375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Raw fitness and health datasets—sourced from wearable devices, HR management systems, wellness applications, and manual entry—invariably arrive with significant data quality deficiencies.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71500" y="5494734"/>
            <a:ext cx="5286375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FitPulse Analytics dissolves these barriers through intelligent, fully automated data remediation, enabling analysts to proceed directly to insight generation.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742950" y="333119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09625" y="3329285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Pervasive Null Values: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Gaps in tracking creating analytical blind spots.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742950" y="405300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809625" y="4051101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Inconsistent Formats: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Date parsing errors and unmapped categorical entries.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742950" y="477482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809625" y="4772917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Structural Irregularities: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Primary barriers to meaningful pattern analysis.</a:t>
            </a:r>
            <a:endParaRPr/>
          </a:p>
        </p:txBody>
      </p:sp>
      <p:pic>
        <p:nvPicPr>
          <p:cNvPr id="127" name="Google Shape;12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247477"/>
            <a:ext cx="5267325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>
            <a:off x="571500" y="352127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The Data Quality Challenge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/>
          <p:nvPr/>
        </p:nvSpPr>
        <p:spPr>
          <a:xfrm>
            <a:off x="571500" y="1240631"/>
            <a:ext cx="11049000" cy="5262711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5" name="Google Shape;135;p16"/>
          <p:cNvGraphicFramePr/>
          <p:nvPr/>
        </p:nvGraphicFramePr>
        <p:xfrm>
          <a:off x="571500" y="1240631"/>
          <a:ext cx="11049000" cy="5262750"/>
        </p:xfrm>
        <a:graphic>
          <a:graphicData uri="http://schemas.openxmlformats.org/drawingml/2006/table">
            <a:tbl>
              <a:tblPr firstRow="1" bandRow="1">
                <a:noFill/>
                <a:tableStyleId>{4247ECED-8874-40D7-BAB4-C569AB57A502}</a:tableStyleId>
              </a:tblPr>
              <a:tblGrid>
                <a:gridCol w="2435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User Segment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Primary Use Case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Key Platform Benefit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Corporate HR &amp; Wellness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Employee fitness programme monitoring and reporting.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No-code EDA with export-ready visualisations.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Data Analysts &amp; Scientists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Rapid dataset profiling and null-value auditing.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Automated preprocessing reduces setup time significantly.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Healthcare Admins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Patient fitness metric trend analysis.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Time-series and outlier detection built-in.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Product Managers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Fitness platform data quality reviews.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Pipeline audit log provides full operational transparency.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Business Intelligence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KPI dashboards fed from cleaned datasets.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Clean, structured data ready for downstream BI tools.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6" name="Google Shape;136;p16"/>
          <p:cNvSpPr/>
          <p:nvPr/>
        </p:nvSpPr>
        <p:spPr>
          <a:xfrm>
            <a:off x="571500" y="1912143"/>
            <a:ext cx="2435721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3007221" y="1912143"/>
            <a:ext cx="4143672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7150893" y="1912143"/>
            <a:ext cx="4469606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571500" y="2910185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3007221" y="2910185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7150893" y="2910185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71500" y="3879651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3007221" y="3879651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7150893" y="3879651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571500" y="4559647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3007221" y="4559647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7150893" y="4559647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571500" y="5529113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3007221" y="5529113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7150893" y="5529113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571500" y="354806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Target Audience &amp; Primary Use Cases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395787"/>
            <a:ext cx="2651670" cy="1382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70510" y="2346275"/>
            <a:ext cx="2651670" cy="1382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69521" y="4395787"/>
            <a:ext cx="2651670" cy="1382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968531" y="2346275"/>
            <a:ext cx="2651670" cy="138276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7"/>
          <p:cNvSpPr/>
          <p:nvPr/>
        </p:nvSpPr>
        <p:spPr>
          <a:xfrm>
            <a:off x="571500" y="4033837"/>
            <a:ext cx="11049000" cy="57150"/>
          </a:xfrm>
          <a:prstGeom prst="roundRect">
            <a:avLst>
              <a:gd name="adj" fmla="val 50000"/>
            </a:avLst>
          </a:prstGeom>
          <a:solidFill>
            <a:srgbClr val="C4A0C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715234" y="4595812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1. CSV Ingestion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771525" y="4938712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Raw .csv file to In-memory DataFrame via robust encoding detection and file-state guard.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3514245" y="2546300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2. Null Inspection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3570535" y="2889200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Column-level null counts, heatmaps, and KPI audits to isolate missing fitness metrics.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6313255" y="4595812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3. Preprocessing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6369546" y="4938712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Deterministic 5-layer null remediation guaranteeing complete null elimination.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9112266" y="2546300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4. EDA Generation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9168556" y="2889200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8 interactive charts including distributions, correlations, and time series generated instantly.</a:t>
            </a:r>
            <a:endParaRPr/>
          </a:p>
        </p:txBody>
      </p:sp>
      <p:sp>
        <p:nvSpPr>
          <p:cNvPr id="170" name="Google Shape;170;p17"/>
          <p:cNvSpPr/>
          <p:nvPr/>
        </p:nvSpPr>
        <p:spPr>
          <a:xfrm>
            <a:off x="1763985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4562995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7362006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10161016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Five-Stage Pipeline Architecture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14921"/>
            <a:ext cx="5286375" cy="47139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514921"/>
            <a:ext cx="5286375" cy="471398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8"/>
          <p:cNvSpPr txBox="1"/>
          <p:nvPr/>
        </p:nvSpPr>
        <p:spPr>
          <a:xfrm>
            <a:off x="962025" y="1905446"/>
            <a:ext cx="473059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1: CSV Upload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962025" y="2372171"/>
            <a:ext cx="4505325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Embedded within the sidebar, utilising Streamlit's native file_uploader widget styled with the platform's custom CSS.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6724650" y="1905446"/>
            <a:ext cx="473059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2: Null Value Inspector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6724650" y="2372171"/>
            <a:ext cx="4505325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Delivers a comprehensive multi-dimensional audit of missing data, architected as a self-contained module.</a:t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1133475" y="338536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1200150" y="3383458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Capacity: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Accepts CSV files up to 200 MB via drag-and-drop.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1133475" y="410718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1200150" y="4105275"/>
            <a:ext cx="426720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Architecture: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Implements a file-name guard; session state resets exclusively upon detection of a genuinely new file.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1133475" y="511846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1200150" y="5116562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Feedback: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Animated loader provides real-time progress while displaying 4 initial KPI cards.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6896100" y="338536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6962775" y="3383458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KPI Cards: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Total Null Cells, Affected Columns, Clean Columns, Null Rate.</a:t>
            </a:r>
            <a:endParaRPr/>
          </a:p>
        </p:txBody>
      </p:sp>
      <p:sp>
        <p:nvSpPr>
          <p:cNvPr id="194" name="Google Shape;194;p18"/>
          <p:cNvSpPr txBox="1"/>
          <p:nvPr/>
        </p:nvSpPr>
        <p:spPr>
          <a:xfrm>
            <a:off x="6896100" y="410718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6962775" y="4105275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Visualizations: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Horizontal bar chart ranked by null severity (purple → red).</a:t>
            </a:r>
            <a:endParaRPr/>
          </a:p>
        </p:txBody>
      </p:sp>
      <p:sp>
        <p:nvSpPr>
          <p:cNvPr id="196" name="Google Shape;196;p18"/>
          <p:cNvSpPr txBox="1"/>
          <p:nvPr/>
        </p:nvSpPr>
        <p:spPr>
          <a:xfrm>
            <a:off x="6896100" y="482899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6962775" y="4827091"/>
            <a:ext cx="426720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Heatmap: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500-row sample null presence heatmap for immediate visual pattern identification.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Stages 1 &amp; 2: Ingestion &amp; Inspection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9"/>
          <p:cNvSpPr/>
          <p:nvPr/>
        </p:nvSpPr>
        <p:spPr>
          <a:xfrm>
            <a:off x="1333500" y="770929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9"/>
          <p:cNvSpPr txBox="1"/>
          <p:nvPr/>
        </p:nvSpPr>
        <p:spPr>
          <a:xfrm>
            <a:off x="1952625" y="961429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A: Datetime Parsing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Columns containing date/time keywords are parsed to datetime64[ns], preparing them for accurate time-series analysis and normalizing invalid values.</a:t>
            </a:r>
            <a:endParaRPr/>
          </a:p>
        </p:txBody>
      </p:sp>
      <p:sp>
        <p:nvSpPr>
          <p:cNvPr id="206" name="Google Shape;206;p19"/>
          <p:cNvSpPr/>
          <p:nvPr/>
        </p:nvSpPr>
        <p:spPr>
          <a:xfrm>
            <a:off x="1333500" y="770929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1333500" y="2321421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9"/>
          <p:cNvSpPr txBox="1"/>
          <p:nvPr/>
        </p:nvSpPr>
        <p:spPr>
          <a:xfrm>
            <a:off x="1952625" y="2511921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B: Linear Interpolation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Intelligently fills gaps between known numeric values. This is ideal for time-ordered fitness metrics like step counts or heart rate tracking.</a:t>
            </a:r>
            <a:endParaRPr/>
          </a:p>
        </p:txBody>
      </p:sp>
      <p:sp>
        <p:nvSpPr>
          <p:cNvPr id="209" name="Google Shape;209;p19"/>
          <p:cNvSpPr/>
          <p:nvPr/>
        </p:nvSpPr>
        <p:spPr>
          <a:xfrm>
            <a:off x="1333500" y="2321421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1333500" y="3871912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 txBox="1"/>
          <p:nvPr/>
        </p:nvSpPr>
        <p:spPr>
          <a:xfrm>
            <a:off x="1952625" y="4062412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C &amp; D: Forward (ffill) &amp; Backward (bfill) Fill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Propagates the last known value forward (addressing trailing nulls) and the next known value backward (addressing leading nulls) to ensure continuity.</a:t>
            </a:r>
            <a:endParaRPr/>
          </a:p>
        </p:txBody>
      </p:sp>
      <p:sp>
        <p:nvSpPr>
          <p:cNvPr id="212" name="Google Shape;212;p19"/>
          <p:cNvSpPr/>
          <p:nvPr/>
        </p:nvSpPr>
        <p:spPr>
          <a:xfrm>
            <a:off x="1333500" y="3871912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1333500" y="5422403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9"/>
          <p:cNvSpPr txBox="1"/>
          <p:nvPr/>
        </p:nvSpPr>
        <p:spPr>
          <a:xfrm>
            <a:off x="1952625" y="5612903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E: Median, Mode &amp; Safety Net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Absolute fallback utilizing column median for isolated numerics, mode for categorical nulls, and a final sweep to guarantee 100% null elimination.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1333500" y="5422403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71625" y="970954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71625" y="2521446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71625" y="4071937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71625" y="5622428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/>
          <p:cNvSpPr txBox="1"/>
          <p:nvPr/>
        </p:nvSpPr>
        <p:spPr>
          <a:xfrm>
            <a:off x="571500" y="-114895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3: The 5-Layer Preprocessing Engine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39391"/>
            <a:ext cx="3492549" cy="366504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39391"/>
            <a:ext cx="3492549" cy="366504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39391"/>
            <a:ext cx="3492549" cy="3665041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0"/>
          <p:cNvSpPr txBox="1"/>
          <p:nvPr/>
        </p:nvSpPr>
        <p:spPr>
          <a:xfrm>
            <a:off x="771525" y="4287291"/>
            <a:ext cx="3247124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Distributions</a:t>
            </a:r>
            <a:endParaRPr/>
          </a:p>
        </p:txBody>
      </p:sp>
      <p:sp>
        <p:nvSpPr>
          <p:cNvPr id="230" name="Google Shape;230;p20"/>
          <p:cNvSpPr txBox="1"/>
          <p:nvPr/>
        </p:nvSpPr>
        <p:spPr>
          <a:xfrm>
            <a:off x="771525" y="4630191"/>
            <a:ext cx="309249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Histograms per numeric column in responsive grids, alongside horizontal bar charts mapping top categorical values.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4549824" y="4287291"/>
            <a:ext cx="3247124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Time Series Trends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4549824" y="4630191"/>
            <a:ext cx="309249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Weekly-average line charts with area fill and monthly-average bar charts utilizing pandas resampling protocols.</a:t>
            </a:r>
            <a:endParaRPr/>
          </a:p>
        </p:txBody>
      </p:sp>
      <p:sp>
        <p:nvSpPr>
          <p:cNvPr id="233" name="Google Shape;233;p20"/>
          <p:cNvSpPr txBox="1"/>
          <p:nvPr/>
        </p:nvSpPr>
        <p:spPr>
          <a:xfrm>
            <a:off x="8328124" y="4287291"/>
            <a:ext cx="3247124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Correlation Matrix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328124" y="4630191"/>
            <a:ext cx="309249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Pearson correlation heatmap for all numeric features, annotated with r-values to map physiological relationships.</a:t>
            </a:r>
            <a:endParaRPr/>
          </a:p>
        </p:txBody>
      </p:sp>
      <p:pic>
        <p:nvPicPr>
          <p:cNvPr id="235" name="Google Shape;235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1525" y="2239416"/>
            <a:ext cx="3092499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49824" y="2239416"/>
            <a:ext cx="3092499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28124" y="2239416"/>
            <a:ext cx="3092499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5: Exploratory Data Analysis (EDA)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1"/>
          <p:cNvSpPr/>
          <p:nvPr/>
        </p:nvSpPr>
        <p:spPr>
          <a:xfrm>
            <a:off x="571500" y="1095821"/>
            <a:ext cx="11049000" cy="555218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5" name="Google Shape;245;p21"/>
          <p:cNvGraphicFramePr/>
          <p:nvPr/>
        </p:nvGraphicFramePr>
        <p:xfrm>
          <a:off x="571500" y="1095821"/>
          <a:ext cx="11049000" cy="5552250"/>
        </p:xfrm>
        <a:graphic>
          <a:graphicData uri="http://schemas.openxmlformats.org/drawingml/2006/table">
            <a:tbl>
              <a:tblPr firstRow="1" bandRow="1">
                <a:noFill/>
                <a:tableStyleId>{4247ECED-8874-40D7-BAB4-C569AB57A502}</a:tableStyleId>
              </a:tblPr>
              <a:tblGrid>
                <a:gridCol w="1323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5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Release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Business Value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CSV &amp; PDF Report Export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Board-ready reports; enables downstream use in Power BI, Tableau, and ML pipelines.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Multi-file Upload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Upload and merge up to 5 CSV files via configurable join key to consolidate health data.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Statistical Tests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Adds inferential capability (Mann-Whitney U, Kruskal-Wallis) for deep research use.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User Authentication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Streamlit-Authenticator integration enabling multi-user enterprise deployment with access control.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v2.0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ML Anomaly Detection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Isolation Forest-based anomaly flagging for proactive detection of unusual fitness metric patterns.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6" name="Google Shape;246;p21"/>
          <p:cNvSpPr/>
          <p:nvPr/>
        </p:nvSpPr>
        <p:spPr>
          <a:xfrm>
            <a:off x="571500" y="1767333"/>
            <a:ext cx="1323975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/>
          <p:nvPr/>
        </p:nvSpPr>
        <p:spPr>
          <a:xfrm>
            <a:off x="1895475" y="1767333"/>
            <a:ext cx="2400002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4295477" y="1767333"/>
            <a:ext cx="7325022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571500" y="2765375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1895475" y="2765375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4295477" y="2765375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571500" y="3734841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1895475" y="3734841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4295477" y="3734841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1"/>
          <p:cNvSpPr/>
          <p:nvPr/>
        </p:nvSpPr>
        <p:spPr>
          <a:xfrm>
            <a:off x="571500" y="4704308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1895475" y="4704308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4295477" y="4704308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1"/>
          <p:cNvSpPr/>
          <p:nvPr/>
        </p:nvSpPr>
        <p:spPr>
          <a:xfrm>
            <a:off x="571500" y="5673774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1895475" y="5673774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1"/>
          <p:cNvSpPr/>
          <p:nvPr/>
        </p:nvSpPr>
        <p:spPr>
          <a:xfrm>
            <a:off x="4295477" y="5673774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1"/>
          <p:cNvSpPr txBox="1"/>
          <p:nvPr/>
        </p:nvSpPr>
        <p:spPr>
          <a:xfrm>
            <a:off x="571500" y="209996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Future Development Roadmap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2"/>
          <p:cNvSpPr txBox="1">
            <a:spLocks noGrp="1"/>
          </p:cNvSpPr>
          <p:nvPr>
            <p:ph type="title"/>
          </p:nvPr>
        </p:nvSpPr>
        <p:spPr>
          <a:xfrm>
            <a:off x="457200" y="274650"/>
            <a:ext cx="9092400" cy="9894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Milestone-1</a:t>
            </a:r>
            <a:b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7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Preprocessing</a:t>
            </a:r>
            <a:endParaRPr sz="2700" dirty="0"/>
          </a:p>
        </p:txBody>
      </p:sp>
      <p:sp>
        <p:nvSpPr>
          <p:cNvPr id="267" name="Google Shape;267;p22"/>
          <p:cNvSpPr txBox="1">
            <a:spLocks noGrp="1"/>
          </p:cNvSpPr>
          <p:nvPr>
            <p:ph type="body" idx="1"/>
          </p:nvPr>
        </p:nvSpPr>
        <p:spPr>
          <a:xfrm>
            <a:off x="5022936" y="1600200"/>
            <a:ext cx="3663863" cy="414924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78" name="Google Shape;27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416" y="1264050"/>
            <a:ext cx="11749414" cy="531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199" cy="630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6"/>
          <p:cNvSpPr txBox="1">
            <a:spLocks noGrp="1"/>
          </p:cNvSpPr>
          <p:nvPr>
            <p:ph type="ctrTitle"/>
          </p:nvPr>
        </p:nvSpPr>
        <p:spPr>
          <a:xfrm>
            <a:off x="1193725" y="374500"/>
            <a:ext cx="7264500" cy="1310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1100"/>
            </a:pPr>
            <a: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Milestone-2</a:t>
            </a:r>
            <a:b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4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Pattern extraction</a:t>
            </a:r>
            <a:endParaRPr sz="2400" dirty="0"/>
          </a:p>
        </p:txBody>
      </p:sp>
      <p:sp>
        <p:nvSpPr>
          <p:cNvPr id="289" name="Google Shape;289;p26"/>
          <p:cNvSpPr txBox="1">
            <a:spLocks noGrp="1"/>
          </p:cNvSpPr>
          <p:nvPr>
            <p:ph type="subTitle" idx="1"/>
          </p:nvPr>
        </p:nvSpPr>
        <p:spPr>
          <a:xfrm>
            <a:off x="1371600" y="2738525"/>
            <a:ext cx="6400800" cy="1591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64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00" name="Google Shape;30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5364" y="1685200"/>
            <a:ext cx="11812044" cy="481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ABDC94-F9E5-D2BD-F9AA-93BB59DBD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67" y="107804"/>
            <a:ext cx="11361107" cy="643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710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11ECD-8DF9-3672-DBDE-CD5C21AED6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37995"/>
            <a:ext cx="7772400" cy="151564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Milestone-3</a:t>
            </a:r>
            <a:b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7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Anomaly detection</a:t>
            </a:r>
            <a:b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4B2859-7D73-4745-5664-A735371BD5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329841"/>
            <a:ext cx="6400800" cy="3308959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359EE0-A238-E8BE-97FE-2324E0EBF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7" y="1365337"/>
            <a:ext cx="11805841" cy="5254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561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F4E77-A3C3-B433-F27E-C02A5221D0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105758-1768-A3BE-2D90-F818EE0254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04437-8169-3E83-D133-6F76B5C94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1" y="452022"/>
            <a:ext cx="12127017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0486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616AA-CD36-B04C-1E2B-63A35D3FA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A8D1B6-8331-6BF2-7DCD-3DA2DA75C7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7C53A5-C84C-F285-0D8C-538CAE41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7" y="442495"/>
            <a:ext cx="12107965" cy="597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971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E2E44-D4DE-77E9-8533-B3CEA1421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1476" y="246192"/>
            <a:ext cx="7772400" cy="1470025"/>
          </a:xfrm>
        </p:spPr>
        <p:txBody>
          <a:bodyPr/>
          <a:lstStyle/>
          <a:p>
            <a: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Milestone-4</a:t>
            </a:r>
            <a:b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4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Dashboard</a:t>
            </a:r>
            <a:endParaRPr lang="en-IN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85F879-9305-BA09-D1DA-849C9E0EA9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5601" y="3429000"/>
            <a:ext cx="6400800" cy="1752600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268" name="Google Shape;268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4350" y="1902358"/>
            <a:ext cx="11130100" cy="47094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9730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937" y="338203"/>
            <a:ext cx="11181914" cy="59927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92888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4FD77A7-9DF7-B928-415C-CBD41EA8D9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90" y="112735"/>
            <a:ext cx="11887200" cy="650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2319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30"/>
          <p:cNvSpPr txBox="1"/>
          <p:nvPr/>
        </p:nvSpPr>
        <p:spPr>
          <a:xfrm>
            <a:off x="295275" y="2107852"/>
            <a:ext cx="11601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Questions?</a:t>
            </a:r>
            <a:endParaRPr/>
          </a:p>
        </p:txBody>
      </p:sp>
      <p:sp>
        <p:nvSpPr>
          <p:cNvPr id="312" name="Google Shape;312;p30"/>
          <p:cNvSpPr txBox="1"/>
          <p:nvPr/>
        </p:nvSpPr>
        <p:spPr>
          <a:xfrm>
            <a:off x="571500" y="3212752"/>
            <a:ext cx="11049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Thank you for exploring FitPulse Analytics.</a:t>
            </a:r>
            <a:endParaRPr sz="2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815</Words>
  <Application>Microsoft Office PowerPoint</Application>
  <PresentationFormat>Widescreen</PresentationFormat>
  <Paragraphs>103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Syne</vt:lpstr>
      <vt:lpstr>Calibri</vt:lpstr>
      <vt:lpstr>Arial</vt:lpstr>
      <vt:lpstr>DM Mono</vt:lpstr>
      <vt:lpstr>DM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Milestone-1 Preprocessing</vt:lpstr>
      <vt:lpstr>PowerPoint Presentation</vt:lpstr>
      <vt:lpstr>Milestone-2 Pattern extraction</vt:lpstr>
      <vt:lpstr>PowerPoint Presentation</vt:lpstr>
      <vt:lpstr>Milestone-3 Anomaly detection </vt:lpstr>
      <vt:lpstr>PowerPoint Presentation</vt:lpstr>
      <vt:lpstr>PowerPoint Presentation</vt:lpstr>
      <vt:lpstr>Milestone-4 Dashboard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Abhishek Shah</cp:lastModifiedBy>
  <cp:revision>2</cp:revision>
  <dcterms:modified xsi:type="dcterms:W3CDTF">2026-03-27T17:29:33Z</dcterms:modified>
</cp:coreProperties>
</file>